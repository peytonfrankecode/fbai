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6858000" y="-914400"/>
            <a:ext cx="7315200" cy="9144000"/>
          </a:xfrm>
          <a:prstGeom prst="parallelogram">
            <a:avLst>
              <a:gd name="adj" fmla="val 60000"/>
            </a:avLst>
          </a:prstGeom>
          <a:solidFill>
            <a:srgbClr val="1A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554480"/>
            <a:ext cx="5258433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128016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8A1A"/>
                </a:solidFill>
                <a:latin typeface="Calibri"/>
              </a:rPr>
              <a:t>FEATURE TOUR  ·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82296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>
                <a:solidFill>
                  <a:srgbClr val="F4F6FA"/>
                </a:solidFill>
                <a:latin typeface="Calibri"/>
              </a:rPr>
              <a:t>The Card Huddle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54680"/>
            <a:ext cx="8229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B6BECB"/>
                </a:solidFill>
                <a:latin typeface="Calibri"/>
              </a:rPr>
              <a:t>Football trading-card pricing, checklists,</a:t>
            </a:r>
          </a:p>
          <a:p>
            <a:pPr algn="l"/>
            <a:r>
              <a:rPr sz="2200" b="0">
                <a:solidFill>
                  <a:srgbClr val="B6BECB"/>
                </a:solidFill>
                <a:latin typeface="Calibri"/>
              </a:rPr>
              <a:t>and portfolio tools.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48056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480560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0F141A"/>
                </a:solidFill>
                <a:latin typeface="Calibri"/>
              </a:rPr>
              <a:t>  eBay-powered comps  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97480" y="448056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24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97480" y="4480560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4F6FA"/>
                </a:solidFill>
                <a:latin typeface="Calibri"/>
              </a:rPr>
              <a:t>  71+ checklists  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4480560"/>
            <a:ext cx="1508760" cy="292608"/>
          </a:xfrm>
          <a:prstGeom prst="roundRect">
            <a:avLst>
              <a:gd name="adj" fmla="val 50000"/>
            </a:avLst>
          </a:prstGeom>
          <a:solidFill>
            <a:srgbClr val="24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0" y="4480560"/>
            <a:ext cx="15087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4F6FA"/>
                </a:solidFill>
                <a:latin typeface="Calibri"/>
              </a:rPr>
              <a:t>  Cross-device sync  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448056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24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0" y="4480560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4F6FA"/>
                </a:solidFill>
                <a:latin typeface="Calibri"/>
              </a:rPr>
              <a:t>  Stripe-powered Pro 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8A1A"/>
                </a:solidFill>
                <a:latin typeface="Calibri"/>
              </a:rPr>
              <a:t>thecardhuddle.com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8A1A"/>
                </a:solidFill>
                <a:latin typeface="Calibri"/>
              </a:rPr>
              <a:t>WHAT'S INSIDE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4F6FA"/>
                </a:solidFill>
                <a:latin typeface="Calibri"/>
              </a:rPr>
              <a:t>Five tabs. Every feature on one screen.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548640" cy="45720"/>
          </a:xfrm>
          <a:prstGeom prst="rect">
            <a:avLst/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B6BECB"/>
                </a:solidFill>
                <a:latin typeface="Calibri"/>
              </a:rPr>
              <a:t>The site is organized by user intent, not by paywall. PRO badges live on individual subtabs, not on whole tabs.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31720"/>
            <a:ext cx="11247120" cy="713232"/>
          </a:xfrm>
          <a:prstGeom prst="roundRect">
            <a:avLst>
              <a:gd name="adj" fmla="val 8000"/>
            </a:avLst>
          </a:prstGeom>
          <a:solidFill>
            <a:srgbClr val="1A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2450592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450592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0F141A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404872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4F6FA"/>
                </a:solidFill>
                <a:latin typeface="Calibri"/>
              </a:rPr>
              <a:t>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715768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6BECB"/>
                </a:solidFill>
                <a:latin typeface="Calibri"/>
              </a:rPr>
              <a:t>Sold + For Sale comps, grade panel, price chart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108960"/>
            <a:ext cx="11247120" cy="713232"/>
          </a:xfrm>
          <a:prstGeom prst="roundRect">
            <a:avLst>
              <a:gd name="adj" fmla="val 8000"/>
            </a:avLst>
          </a:prstGeom>
          <a:solidFill>
            <a:srgbClr val="1A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5800" y="3227832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227832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0F141A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182112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4F6FA"/>
                </a:solidFill>
                <a:latin typeface="Calibri"/>
              </a:rPr>
              <a:t>Checklists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493008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6BECB"/>
                </a:solidFill>
                <a:latin typeface="Calibri"/>
              </a:rPr>
              <a:t>71 products, set completion, rainbow mode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886200"/>
            <a:ext cx="11247120" cy="713232"/>
          </a:xfrm>
          <a:prstGeom prst="roundRect">
            <a:avLst>
              <a:gd name="adj" fmla="val 8000"/>
            </a:avLst>
          </a:prstGeom>
          <a:solidFill>
            <a:srgbClr val="1A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85800" y="4005072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005072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0F141A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959352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4F6FA"/>
                </a:solidFill>
                <a:latin typeface="Calibri"/>
              </a:rPr>
              <a:t>Browse Cards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4270248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6BECB"/>
                </a:solidFill>
                <a:latin typeface="Calibri"/>
              </a:rPr>
              <a:t>Promoted listings aggregated across users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663440"/>
            <a:ext cx="11247120" cy="713232"/>
          </a:xfrm>
          <a:prstGeom prst="roundRect">
            <a:avLst>
              <a:gd name="adj" fmla="val 8000"/>
            </a:avLst>
          </a:prstGeom>
          <a:solidFill>
            <a:srgbClr val="1A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85800" y="4782312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782312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0F141A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4736592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4F6FA"/>
                </a:solidFill>
                <a:latin typeface="Calibri"/>
              </a:rPr>
              <a:t>My Cards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5047488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6BECB"/>
                </a:solidFill>
                <a:latin typeface="Calibri"/>
              </a:rPr>
              <a:t>Collection, watchlist, tracked cards &amp; alerts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440679"/>
            <a:ext cx="11247120" cy="713232"/>
          </a:xfrm>
          <a:prstGeom prst="roundRect">
            <a:avLst>
              <a:gd name="adj" fmla="val 8000"/>
            </a:avLst>
          </a:prstGeom>
          <a:solidFill>
            <a:srgbClr val="1A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85800" y="5559551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5559551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0F141A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20" y="5513831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4F6FA"/>
                </a:solidFill>
                <a:latin typeface="Calibri"/>
              </a:rPr>
              <a:t>Sell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20" y="5824727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6BECB"/>
                </a:solidFill>
                <a:latin typeface="Calibri"/>
              </a:rPr>
              <a:t>Auto-Pricer, Bulk Pricer, Title Generator, Listing Helper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6BECB"/>
                </a:solidFill>
                <a:latin typeface="Calibri"/>
              </a:rPr>
              <a:t>The Card Huddle  ·  Feature Tour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32720" y="644652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B6BECB"/>
                </a:solidFill>
                <a:latin typeface="Calibri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8A1A"/>
                </a:solidFill>
                <a:latin typeface="Calibri"/>
              </a:rPr>
              <a:t>TAB 1 ·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4F6FA"/>
                </a:solidFill>
                <a:latin typeface="Calibri"/>
              </a:rPr>
              <a:t>Find any card's real market price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548640" cy="45720"/>
          </a:xfrm>
          <a:prstGeom prst="rect">
            <a:avLst/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760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B6BECB"/>
                </a:solidFill>
                <a:latin typeface="Calibri"/>
              </a:rPr>
              <a:t>Type a player or card number. We pull live sold + for-sale comps from eBay.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94560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21408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4F6FA"/>
                </a:solidFill>
                <a:latin typeface="Calibri"/>
              </a:rPr>
              <a:t>Sold prices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59152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B6BECB"/>
                </a:solidFill>
                <a:latin typeface="Calibri"/>
              </a:rPr>
              <a:t>Real, recent sold listings — not asking prices.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761488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688336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4F6FA"/>
                </a:solidFill>
                <a:latin typeface="Calibri"/>
              </a:rPr>
              <a:t>Grade panel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2608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B6BECB"/>
                </a:solidFill>
                <a:latin typeface="Calibri"/>
              </a:rPr>
              <a:t>PSA 10 / 9 / 8 / Raw broken out with median + range.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328416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255264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4F6FA"/>
                </a:solidFill>
                <a:latin typeface="Calibri"/>
              </a:rPr>
              <a:t>Variants picker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493008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B6BECB"/>
                </a:solidFill>
                <a:latin typeface="Calibri"/>
              </a:rPr>
              <a:t>Drill into parallels, /99, /25, autos, patches.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895344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822192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4F6FA"/>
                </a:solidFill>
                <a:latin typeface="Calibri"/>
              </a:rPr>
              <a:t>Auction vs Buy-It-Now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059936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B6BECB"/>
                </a:solidFill>
                <a:latin typeface="Calibri"/>
              </a:rPr>
              <a:t>Every listing labeled, color-coded.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462272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3891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4F6FA"/>
                </a:solidFill>
                <a:latin typeface="Calibri"/>
              </a:rPr>
              <a:t>Load More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626864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B6BECB"/>
                </a:solidFill>
                <a:latin typeface="Calibri"/>
              </a:rPr>
              <a:t>Fetch 40 more comps at a time, no infinite scroll surprise.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029200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956048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4F6FA"/>
                </a:solidFill>
                <a:latin typeface="Calibri"/>
              </a:rPr>
              <a:t>Strict-match filter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193792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B6BECB"/>
                </a:solidFill>
                <a:latin typeface="Calibri"/>
              </a:rPr>
              <a:t>Falls back to 'similar listings' so results never empty.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92240" y="1600200"/>
            <a:ext cx="5349240" cy="4709160"/>
          </a:xfrm>
          <a:prstGeom prst="roundRect">
            <a:avLst>
              <a:gd name="adj" fmla="val 4000"/>
            </a:avLst>
          </a:prstGeom>
          <a:solidFill>
            <a:srgbClr val="1A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720840" y="1828800"/>
            <a:ext cx="4892040" cy="502920"/>
          </a:xfrm>
          <a:prstGeom prst="roundRect">
            <a:avLst>
              <a:gd name="adj" fmla="val 30000"/>
            </a:avLst>
          </a:prstGeom>
          <a:solidFill>
            <a:srgbClr val="24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03720" y="189280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4F6FA"/>
                </a:solidFill>
                <a:latin typeface="Calibri"/>
              </a:rPr>
              <a:t>Caleb Williams Prizm Rookie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789920" y="1892808"/>
            <a:ext cx="777240" cy="365760"/>
          </a:xfrm>
          <a:prstGeom prst="roundRect">
            <a:avLst>
              <a:gd name="adj" fmla="val 40000"/>
            </a:avLst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789920" y="1892808"/>
            <a:ext cx="777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141A"/>
                </a:solidFill>
                <a:latin typeface="Calibri"/>
              </a:rPr>
              <a:t>Search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766560" y="256032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0" y="2560320"/>
            <a:ext cx="7772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0F141A"/>
                </a:solidFill>
                <a:latin typeface="Calibri"/>
              </a:rPr>
              <a:t>  Sold  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653528" y="25603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24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53528" y="2560320"/>
            <a:ext cx="9601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4F6FA"/>
                </a:solidFill>
                <a:latin typeface="Calibri"/>
              </a:rPr>
              <a:t>  For Sale  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723376" y="25603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24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23376" y="2560320"/>
            <a:ext cx="9601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4F6FA"/>
                </a:solidFill>
                <a:latin typeface="Calibri"/>
              </a:rPr>
              <a:t>  Variants  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793224" y="256032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24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93224" y="2560320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4F6FA"/>
                </a:solidFill>
                <a:latin typeface="Calibri"/>
              </a:rPr>
              <a:t>  PSA 10  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720840" y="3154680"/>
            <a:ext cx="1600200" cy="1417320"/>
          </a:xfrm>
          <a:prstGeom prst="roundRect">
            <a:avLst>
              <a:gd name="adj" fmla="val 6000"/>
            </a:avLst>
          </a:prstGeom>
          <a:solidFill>
            <a:srgbClr val="24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812280" y="3246120"/>
            <a:ext cx="1417320" cy="594360"/>
          </a:xfrm>
          <a:prstGeom prst="roundRect">
            <a:avLst>
              <a:gd name="adj" fmla="val 6000"/>
            </a:avLst>
          </a:prstGeom>
          <a:solidFill>
            <a:srgbClr val="0F1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12280" y="3246120"/>
            <a:ext cx="14173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0">
                <a:solidFill>
                  <a:srgbClr val="B6BECB"/>
                </a:solidFill>
                <a:latin typeface="Calibri"/>
              </a:rPr>
              <a:t>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30568" y="3904488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8A1A"/>
                </a:solidFill>
                <a:latin typeface="Calibri"/>
              </a:rPr>
              <a:t>PSA 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30568" y="4114800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4F6FA"/>
                </a:solidFill>
                <a:latin typeface="Calibri"/>
              </a:rPr>
              <a:t>$1,240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830568" y="4361688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4AD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30568" y="4361688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0F141A"/>
                </a:solidFill>
                <a:latin typeface="Calibri"/>
              </a:rPr>
              <a:t>  BIN  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412480" y="3154680"/>
            <a:ext cx="1600200" cy="1417320"/>
          </a:xfrm>
          <a:prstGeom prst="roundRect">
            <a:avLst>
              <a:gd name="adj" fmla="val 6000"/>
            </a:avLst>
          </a:prstGeom>
          <a:solidFill>
            <a:srgbClr val="24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503920" y="3246120"/>
            <a:ext cx="1417320" cy="594360"/>
          </a:xfrm>
          <a:prstGeom prst="roundRect">
            <a:avLst>
              <a:gd name="adj" fmla="val 6000"/>
            </a:avLst>
          </a:prstGeom>
          <a:solidFill>
            <a:srgbClr val="0F1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03920" y="3246120"/>
            <a:ext cx="14173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0">
                <a:solidFill>
                  <a:srgbClr val="B6BECB"/>
                </a:solidFill>
                <a:latin typeface="Calibri"/>
              </a:rPr>
              <a:t>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22208" y="3904488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8A1A"/>
                </a:solidFill>
                <a:latin typeface="Calibri"/>
              </a:rPr>
              <a:t>PSA 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22208" y="4114800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4F6FA"/>
                </a:solidFill>
                <a:latin typeface="Calibri"/>
              </a:rPr>
              <a:t>$520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522208" y="4361688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22208" y="4361688"/>
            <a:ext cx="10515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0F141A"/>
                </a:solidFill>
                <a:latin typeface="Calibri"/>
              </a:rPr>
              <a:t>  Auction  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104120" y="3154680"/>
            <a:ext cx="1600200" cy="1417320"/>
          </a:xfrm>
          <a:prstGeom prst="roundRect">
            <a:avLst>
              <a:gd name="adj" fmla="val 6000"/>
            </a:avLst>
          </a:prstGeom>
          <a:solidFill>
            <a:srgbClr val="24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10195560" y="3246120"/>
            <a:ext cx="1417320" cy="594360"/>
          </a:xfrm>
          <a:prstGeom prst="roundRect">
            <a:avLst>
              <a:gd name="adj" fmla="val 6000"/>
            </a:avLst>
          </a:prstGeom>
          <a:solidFill>
            <a:srgbClr val="0F1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195560" y="3246120"/>
            <a:ext cx="14173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0">
                <a:solidFill>
                  <a:srgbClr val="B6BECB"/>
                </a:solidFill>
                <a:latin typeface="Calibri"/>
              </a:rPr>
              <a:t>🏈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213848" y="3904488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8A1A"/>
                </a:solidFill>
                <a:latin typeface="Calibri"/>
              </a:rPr>
              <a:t>Raw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213848" y="4114800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4F6FA"/>
                </a:solidFill>
                <a:latin typeface="Calibri"/>
              </a:rPr>
              <a:t>$180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213848" y="4361688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4AD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213848" y="4361688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0F141A"/>
                </a:solidFill>
                <a:latin typeface="Calibri"/>
              </a:rPr>
              <a:t>  BIN  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720840" y="4709160"/>
            <a:ext cx="1600200" cy="1417320"/>
          </a:xfrm>
          <a:prstGeom prst="roundRect">
            <a:avLst>
              <a:gd name="adj" fmla="val 6000"/>
            </a:avLst>
          </a:prstGeom>
          <a:solidFill>
            <a:srgbClr val="24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6812280" y="4800600"/>
            <a:ext cx="1417320" cy="594360"/>
          </a:xfrm>
          <a:prstGeom prst="roundRect">
            <a:avLst>
              <a:gd name="adj" fmla="val 6000"/>
            </a:avLst>
          </a:prstGeom>
          <a:solidFill>
            <a:srgbClr val="0F1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812280" y="4800600"/>
            <a:ext cx="14173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0">
                <a:solidFill>
                  <a:srgbClr val="B6BECB"/>
                </a:solidFill>
                <a:latin typeface="Calibri"/>
              </a:rPr>
              <a:t>🏈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30568" y="5458968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8A1A"/>
                </a:solidFill>
                <a:latin typeface="Calibri"/>
              </a:rPr>
              <a:t>PSA 10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830568" y="5669280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4F6FA"/>
                </a:solidFill>
                <a:latin typeface="Calibri"/>
              </a:rPr>
              <a:t>$1,180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830568" y="5916168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830568" y="5916168"/>
            <a:ext cx="10515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0F141A"/>
                </a:solidFill>
                <a:latin typeface="Calibri"/>
              </a:rPr>
              <a:t>  Auction  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412480" y="4709160"/>
            <a:ext cx="1600200" cy="1417320"/>
          </a:xfrm>
          <a:prstGeom prst="roundRect">
            <a:avLst>
              <a:gd name="adj" fmla="val 6000"/>
            </a:avLst>
          </a:prstGeom>
          <a:solidFill>
            <a:srgbClr val="24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8503920" y="4800600"/>
            <a:ext cx="1417320" cy="594360"/>
          </a:xfrm>
          <a:prstGeom prst="roundRect">
            <a:avLst>
              <a:gd name="adj" fmla="val 6000"/>
            </a:avLst>
          </a:prstGeom>
          <a:solidFill>
            <a:srgbClr val="0F1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503920" y="4800600"/>
            <a:ext cx="14173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0">
                <a:solidFill>
                  <a:srgbClr val="B6BECB"/>
                </a:solidFill>
                <a:latin typeface="Calibri"/>
              </a:rPr>
              <a:t>🏈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522208" y="5458968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8A1A"/>
                </a:solidFill>
                <a:latin typeface="Calibri"/>
              </a:rPr>
              <a:t>PSA 8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522208" y="5669280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4F6FA"/>
                </a:solidFill>
                <a:latin typeface="Calibri"/>
              </a:rPr>
              <a:t>$240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522208" y="5916168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4AD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522208" y="5916168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0F141A"/>
                </a:solidFill>
                <a:latin typeface="Calibri"/>
              </a:rPr>
              <a:t>  BIN  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10104120" y="4709160"/>
            <a:ext cx="1600200" cy="1417320"/>
          </a:xfrm>
          <a:prstGeom prst="roundRect">
            <a:avLst>
              <a:gd name="adj" fmla="val 6000"/>
            </a:avLst>
          </a:prstGeom>
          <a:solidFill>
            <a:srgbClr val="24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10195560" y="4800600"/>
            <a:ext cx="1417320" cy="594360"/>
          </a:xfrm>
          <a:prstGeom prst="roundRect">
            <a:avLst>
              <a:gd name="adj" fmla="val 6000"/>
            </a:avLst>
          </a:prstGeom>
          <a:solidFill>
            <a:srgbClr val="0F1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195560" y="4800600"/>
            <a:ext cx="14173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0">
                <a:solidFill>
                  <a:srgbClr val="B6BECB"/>
                </a:solidFill>
                <a:latin typeface="Calibri"/>
              </a:rPr>
              <a:t>🏈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213848" y="5458968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8A1A"/>
                </a:solidFill>
                <a:latin typeface="Calibri"/>
              </a:rPr>
              <a:t>Raw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213848" y="5669280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4F6FA"/>
                </a:solidFill>
                <a:latin typeface="Calibri"/>
              </a:rPr>
              <a:t>$155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10213848" y="5916168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4AD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213848" y="5916168"/>
            <a:ext cx="9144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0F141A"/>
                </a:solidFill>
                <a:latin typeface="Calibri"/>
              </a:rPr>
              <a:t>  Both  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6BECB"/>
                </a:solidFill>
                <a:latin typeface="Calibri"/>
              </a:rPr>
              <a:t>The Card Huddle  ·  Feature Tour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332720" y="644652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B6BECB"/>
                </a:solidFill>
                <a:latin typeface="Calibri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8A1A"/>
                </a:solidFill>
                <a:latin typeface="Calibri"/>
              </a:rPr>
              <a:t>TAB 2 · CHECKLISTS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4F6FA"/>
                </a:solidFill>
                <a:latin typeface="Calibri"/>
              </a:rPr>
              <a:t>Browse every card in every set we cover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548640" cy="45720"/>
          </a:xfrm>
          <a:prstGeom prst="rect">
            <a:avLst/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B6BECB"/>
                </a:solidFill>
                <a:latin typeface="Calibri"/>
              </a:rPr>
              <a:t>71 hand-curated checklists across Panini &amp; Topps football. Lazy-loaded so the page stays fast.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94560"/>
            <a:ext cx="2697480" cy="100584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86000"/>
            <a:ext cx="2697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>
                <a:solidFill>
                  <a:srgbClr val="FF8A1A"/>
                </a:solidFill>
                <a:latin typeface="Calibri"/>
              </a:rPr>
              <a:t>71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8892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B6BECB"/>
                </a:solidFill>
                <a:latin typeface="Calibri"/>
              </a:rPr>
              <a:t>Products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2194560"/>
            <a:ext cx="2697480" cy="100584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2286000"/>
            <a:ext cx="2697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>
                <a:solidFill>
                  <a:srgbClr val="FF8A1A"/>
                </a:solidFill>
                <a:latin typeface="Calibri"/>
              </a:rPr>
              <a:t>9,400+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78892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B6BECB"/>
                </a:solidFill>
                <a:latin typeface="Calibri"/>
              </a:rPr>
              <a:t>Cards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2194560"/>
            <a:ext cx="2697480" cy="100584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2286000"/>
            <a:ext cx="2697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>
                <a:solidFill>
                  <a:srgbClr val="FF8A1A"/>
                </a:solidFill>
                <a:latin typeface="Calibri"/>
              </a:rPr>
              <a:t>180+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78892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B6BECB"/>
                </a:solidFill>
                <a:latin typeface="Calibri"/>
              </a:rPr>
              <a:t>Parallels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2194560"/>
            <a:ext cx="2697480" cy="100584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0" y="2286000"/>
            <a:ext cx="2697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>
                <a:solidFill>
                  <a:srgbClr val="FF8A1A"/>
                </a:solidFill>
                <a:latin typeface="Calibri"/>
              </a:rPr>
              <a:t>2024-25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278892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B6BECB"/>
                </a:solidFill>
                <a:latin typeface="Calibri"/>
              </a:rPr>
              <a:t>Seasons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520440"/>
            <a:ext cx="2697480" cy="2743200"/>
          </a:xfrm>
          <a:prstGeom prst="roundRect">
            <a:avLst>
              <a:gd name="adj" fmla="val 5000"/>
            </a:avLst>
          </a:prstGeom>
          <a:solidFill>
            <a:srgbClr val="1A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1520" y="37947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7947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0F141A"/>
                </a:solidFill>
                <a:latin typeface="Calibr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434840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4F6FA"/>
                </a:solidFill>
                <a:latin typeface="Calibri"/>
              </a:rPr>
              <a:t>Cascading picker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937760"/>
            <a:ext cx="21488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B6BECB"/>
                </a:solidFill>
                <a:latin typeface="Calibri"/>
              </a:rPr>
              <a:t>Year → Product → Set → Card → Variant.</a:t>
            </a:r>
          </a:p>
          <a:p>
            <a:pPr algn="l"/>
            <a:r>
              <a:rPr sz="1100" b="0">
                <a:solidFill>
                  <a:srgbClr val="B6BECB"/>
                </a:solidFill>
                <a:latin typeface="Calibri"/>
              </a:rPr>
              <a:t>Searchable combobox in every step.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91840" y="3520440"/>
            <a:ext cx="2697480" cy="2743200"/>
          </a:xfrm>
          <a:prstGeom prst="roundRect">
            <a:avLst>
              <a:gd name="adj" fmla="val 5000"/>
            </a:avLst>
          </a:prstGeom>
          <a:solidFill>
            <a:srgbClr val="1A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566160" y="37947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6160" y="37947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0F141A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4434840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4F6FA"/>
                </a:solidFill>
                <a:latin typeface="Calibri"/>
              </a:rPr>
              <a:t>Inline eBay listings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4937760"/>
            <a:ext cx="21488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B6BECB"/>
                </a:solidFill>
                <a:latin typeface="Calibri"/>
              </a:rPr>
              <a:t>Click any card to see live for-sale</a:t>
            </a:r>
          </a:p>
          <a:p>
            <a:pPr algn="l"/>
            <a:r>
              <a:rPr sz="1100" b="0">
                <a:solidFill>
                  <a:srgbClr val="B6BECB"/>
                </a:solidFill>
                <a:latin typeface="Calibri"/>
              </a:rPr>
              <a:t>and sold comps without leaving the row.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26480" y="3520440"/>
            <a:ext cx="2697480" cy="2743200"/>
          </a:xfrm>
          <a:prstGeom prst="roundRect">
            <a:avLst>
              <a:gd name="adj" fmla="val 5000"/>
            </a:avLst>
          </a:prstGeom>
          <a:solidFill>
            <a:srgbClr val="1A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00800" y="37947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37947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0F141A"/>
                </a:solidFill>
                <a:latin typeface="Calibr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434840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4F6FA"/>
                </a:solidFill>
                <a:latin typeface="Calibri"/>
              </a:rPr>
              <a:t>Set Completion subtab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937760"/>
            <a:ext cx="21488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B6BECB"/>
                </a:solidFill>
                <a:latin typeface="Calibri"/>
              </a:rPr>
              <a:t>Track which cards you own per set</a:t>
            </a:r>
          </a:p>
          <a:p>
            <a:pPr algn="l"/>
            <a:r>
              <a:rPr sz="1100" b="0">
                <a:solidFill>
                  <a:srgbClr val="B6BECB"/>
                </a:solidFill>
                <a:latin typeface="Calibri"/>
              </a:rPr>
              <a:t>and visualize progress as a tile grid.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61120" y="3520440"/>
            <a:ext cx="2697480" cy="2743200"/>
          </a:xfrm>
          <a:prstGeom prst="roundRect">
            <a:avLst>
              <a:gd name="adj" fmla="val 5000"/>
            </a:avLst>
          </a:prstGeom>
          <a:solidFill>
            <a:srgbClr val="1A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235440" y="37947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35440" y="37947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0F141A"/>
                </a:solidFill>
                <a:latin typeface="Calibri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5440" y="4434840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4F6FA"/>
                </a:solidFill>
                <a:latin typeface="Calibri"/>
              </a:rPr>
              <a:t>Rainbow Mode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35440" y="4937760"/>
            <a:ext cx="21488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B6BECB"/>
                </a:solidFill>
                <a:latin typeface="Calibri"/>
              </a:rPr>
              <a:t>See every parallel for one card side-by-side</a:t>
            </a:r>
          </a:p>
          <a:p>
            <a:pPr algn="l"/>
            <a:r>
              <a:rPr sz="1100" b="0">
                <a:solidFill>
                  <a:srgbClr val="B6BECB"/>
                </a:solidFill>
                <a:latin typeface="Calibri"/>
              </a:rPr>
              <a:t>with comp pricing per variant.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6BECB"/>
                </a:solidFill>
                <a:latin typeface="Calibri"/>
              </a:rPr>
              <a:t>The Card Huddle  ·  Feature Tour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32720" y="644652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B6BECB"/>
                </a:solidFill>
                <a:latin typeface="Calibri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8A1A"/>
                </a:solidFill>
                <a:latin typeface="Calibri"/>
              </a:rPr>
              <a:t>INSIDE CHECKLISTS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4F6FA"/>
                </a:solidFill>
                <a:latin typeface="Calibri"/>
              </a:rPr>
              <a:t>Rainbow Mode &amp; Set Completion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548640" cy="45720"/>
          </a:xfrm>
          <a:prstGeom prst="rect">
            <a:avLst/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B6BECB"/>
                </a:solidFill>
                <a:latin typeface="Calibri"/>
              </a:rPr>
              <a:t>Two views collectors actually use. Both live under the Checklists tab.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94560"/>
            <a:ext cx="5577840" cy="4114800"/>
          </a:xfrm>
          <a:prstGeom prst="roundRect">
            <a:avLst>
              <a:gd name="adj" fmla="val 4000"/>
            </a:avLst>
          </a:prstGeom>
          <a:solidFill>
            <a:srgbClr val="1A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8A1A"/>
                </a:solidFill>
                <a:latin typeface="Calibri"/>
              </a:rPr>
              <a:t>RAINBOW MODE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0604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4F6FA"/>
                </a:solidFill>
                <a:latin typeface="Calibri"/>
              </a:rPr>
              <a:t>All parallels for one card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200400"/>
            <a:ext cx="804672" cy="1417320"/>
          </a:xfrm>
          <a:prstGeom prst="roundRect">
            <a:avLst>
              <a:gd name="adj" fmla="val 6000"/>
            </a:avLst>
          </a:prstGeom>
          <a:solidFill>
            <a:srgbClr val="C8C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663440"/>
            <a:ext cx="804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4F6FA"/>
                </a:solidFill>
                <a:latin typeface="Calibri"/>
              </a:rPr>
              <a:t>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910328"/>
            <a:ext cx="804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8A1A"/>
                </a:solidFill>
                <a:latin typeface="Calibri"/>
              </a:rPr>
              <a:t>$8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17904" y="3200400"/>
            <a:ext cx="804672" cy="1417320"/>
          </a:xfrm>
          <a:prstGeom prst="roundRect">
            <a:avLst>
              <a:gd name="adj" fmla="val 6000"/>
            </a:avLst>
          </a:prstGeom>
          <a:solidFill>
            <a:srgbClr val="D8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17904" y="4663440"/>
            <a:ext cx="804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4F6FA"/>
                </a:solidFill>
                <a:latin typeface="Calibri"/>
              </a:rPr>
              <a:t>Silver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7904" y="4910328"/>
            <a:ext cx="804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8A1A"/>
                </a:solidFill>
                <a:latin typeface="Calibri"/>
              </a:rPr>
              <a:t>$24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95728" y="3200400"/>
            <a:ext cx="804672" cy="1417320"/>
          </a:xfrm>
          <a:prstGeom prst="roundRect">
            <a:avLst>
              <a:gd name="adj" fmla="val 6000"/>
            </a:avLst>
          </a:prstGeom>
          <a:solidFill>
            <a:srgbClr val="4A8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95728" y="4663440"/>
            <a:ext cx="804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4F6FA"/>
                </a:solidFill>
                <a:latin typeface="Calibri"/>
              </a:rPr>
              <a:t>Blue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95728" y="4910328"/>
            <a:ext cx="804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8A1A"/>
                </a:solidFill>
                <a:latin typeface="Calibri"/>
              </a:rPr>
              <a:t>$68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73552" y="3200400"/>
            <a:ext cx="804672" cy="1417320"/>
          </a:xfrm>
          <a:prstGeom prst="roundRect">
            <a:avLst>
              <a:gd name="adj" fmla="val 6000"/>
            </a:avLst>
          </a:prstGeom>
          <a:solidFill>
            <a:srgbClr val="E5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73552" y="4663440"/>
            <a:ext cx="804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4F6FA"/>
                </a:solidFill>
                <a:latin typeface="Calibri"/>
              </a:rPr>
              <a:t>Red /99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73552" y="4910328"/>
            <a:ext cx="804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8A1A"/>
                </a:solidFill>
                <a:latin typeface="Calibri"/>
              </a:rPr>
              <a:t>$185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51376" y="3200400"/>
            <a:ext cx="804672" cy="1417320"/>
          </a:xfrm>
          <a:prstGeom prst="roundRect">
            <a:avLst>
              <a:gd name="adj" fmla="val 6000"/>
            </a:avLst>
          </a:prstGeom>
          <a:solidFill>
            <a:srgbClr val="E5B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51376" y="4663440"/>
            <a:ext cx="804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4F6FA"/>
                </a:solidFill>
                <a:latin typeface="Calibri"/>
              </a:rPr>
              <a:t>Gold /10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51376" y="4910328"/>
            <a:ext cx="804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8A1A"/>
                </a:solidFill>
                <a:latin typeface="Calibri"/>
              </a:rPr>
              <a:t>$640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0" y="3200400"/>
            <a:ext cx="804672" cy="141732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0" y="4663440"/>
            <a:ext cx="804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4F6FA"/>
                </a:solidFill>
                <a:latin typeface="Calibri"/>
              </a:rPr>
              <a:t>Black 1/1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4910328"/>
            <a:ext cx="804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8A1A"/>
                </a:solidFill>
                <a:latin typeface="Calibri"/>
              </a:rPr>
              <a:t>$2,400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532120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B6BECB"/>
                </a:solidFill>
                <a:latin typeface="Calibri"/>
              </a:rPr>
              <a:t>Click any tile for sold comps and a 30-day price chart for that exact parallel.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63640" y="2194560"/>
            <a:ext cx="5577840" cy="4114800"/>
          </a:xfrm>
          <a:prstGeom prst="roundRect">
            <a:avLst>
              <a:gd name="adj" fmla="val 4000"/>
            </a:avLst>
          </a:prstGeom>
          <a:solidFill>
            <a:srgbClr val="1A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233172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8A1A"/>
                </a:solidFill>
                <a:latin typeface="Calibri"/>
              </a:rPr>
              <a:t>SET COMPLETION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260604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4F6FA"/>
                </a:solidFill>
                <a:latin typeface="Calibri"/>
              </a:rPr>
              <a:t>How far along are you?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46520" y="3108960"/>
            <a:ext cx="5120640" cy="292608"/>
          </a:xfrm>
          <a:prstGeom prst="roundRect">
            <a:avLst>
              <a:gd name="adj" fmla="val 50000"/>
            </a:avLst>
          </a:prstGeom>
          <a:solidFill>
            <a:srgbClr val="24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446520" y="3108960"/>
            <a:ext cx="3337560" cy="292608"/>
          </a:xfrm>
          <a:prstGeom prst="roundRect">
            <a:avLst>
              <a:gd name="adj" fmla="val 50000"/>
            </a:avLst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6520" y="3456432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4F6FA"/>
                </a:solidFill>
                <a:latin typeface="Calibri"/>
              </a:rPr>
              <a:t>274 / 420 cards   ·   65% complete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46520" y="4069080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24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775704" y="4069080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24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104888" y="4069080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434072" y="4069080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24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763256" y="4069080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092440" y="4069080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421624" y="4069080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24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750808" y="4069080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079992" y="4069080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24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409176" y="4069080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738360" y="4069080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24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0067544" y="4069080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24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0396728" y="4069080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10725912" y="4069080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446520" y="4398264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24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775704" y="4398264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24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7104888" y="4398264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7434072" y="4398264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7763256" y="4398264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8092440" y="4398264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8421624" y="4398264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8750808" y="4398264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24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9079992" y="4398264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9409176" y="4398264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24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9738360" y="4398264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24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10067544" y="4398264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24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10396728" y="4398264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24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10725912" y="4398264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6446520" y="4727448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24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6775704" y="4727448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7104888" y="4727448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7434072" y="4727448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7763256" y="4727448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8092440" y="4727448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24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8421624" y="4727448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24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8750808" y="4727448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24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9079992" y="4727448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9409176" y="4727448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9738360" y="4727448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24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10067544" y="4727448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10396728" y="4727448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10725912" y="4727448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24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6446520" y="5056632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6775704" y="5056632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7104888" y="5056632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24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7434072" y="5056632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7763256" y="5056632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8092440" y="5056632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8421624" y="5056632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8750808" y="5056632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24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9079992" y="5056632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9409176" y="5056632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24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9738360" y="5056632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10067544" y="5056632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10396728" y="5056632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24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10725912" y="5056632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6446520" y="5385816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24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6775704" y="5385816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7104888" y="5385816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ounded Rectangle 93"/>
          <p:cNvSpPr/>
          <p:nvPr/>
        </p:nvSpPr>
        <p:spPr>
          <a:xfrm>
            <a:off x="7434072" y="5385816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7763256" y="5385816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8092440" y="5385816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24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ounded Rectangle 96"/>
          <p:cNvSpPr/>
          <p:nvPr/>
        </p:nvSpPr>
        <p:spPr>
          <a:xfrm>
            <a:off x="8421624" y="5385816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ounded Rectangle 97"/>
          <p:cNvSpPr/>
          <p:nvPr/>
        </p:nvSpPr>
        <p:spPr>
          <a:xfrm>
            <a:off x="8750808" y="5385816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9079992" y="5385816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9409176" y="5385816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ounded Rectangle 100"/>
          <p:cNvSpPr/>
          <p:nvPr/>
        </p:nvSpPr>
        <p:spPr>
          <a:xfrm>
            <a:off x="9738360" y="5385816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ounded Rectangle 101"/>
          <p:cNvSpPr/>
          <p:nvPr/>
        </p:nvSpPr>
        <p:spPr>
          <a:xfrm>
            <a:off x="10067544" y="5385816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ounded Rectangle 102"/>
          <p:cNvSpPr/>
          <p:nvPr/>
        </p:nvSpPr>
        <p:spPr>
          <a:xfrm>
            <a:off x="10396728" y="5385816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ounded Rectangle 103"/>
          <p:cNvSpPr/>
          <p:nvPr/>
        </p:nvSpPr>
        <p:spPr>
          <a:xfrm>
            <a:off x="10725912" y="5385816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ounded Rectangle 104"/>
          <p:cNvSpPr/>
          <p:nvPr/>
        </p:nvSpPr>
        <p:spPr>
          <a:xfrm>
            <a:off x="6446520" y="5715000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24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ounded Rectangle 105"/>
          <p:cNvSpPr/>
          <p:nvPr/>
        </p:nvSpPr>
        <p:spPr>
          <a:xfrm>
            <a:off x="6775704" y="5715000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ounded Rectangle 106"/>
          <p:cNvSpPr/>
          <p:nvPr/>
        </p:nvSpPr>
        <p:spPr>
          <a:xfrm>
            <a:off x="7104888" y="5715000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ounded Rectangle 107"/>
          <p:cNvSpPr/>
          <p:nvPr/>
        </p:nvSpPr>
        <p:spPr>
          <a:xfrm>
            <a:off x="7434072" y="5715000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ounded Rectangle 108"/>
          <p:cNvSpPr/>
          <p:nvPr/>
        </p:nvSpPr>
        <p:spPr>
          <a:xfrm>
            <a:off x="7763256" y="5715000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ounded Rectangle 109"/>
          <p:cNvSpPr/>
          <p:nvPr/>
        </p:nvSpPr>
        <p:spPr>
          <a:xfrm>
            <a:off x="8092440" y="5715000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24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ounded Rectangle 110"/>
          <p:cNvSpPr/>
          <p:nvPr/>
        </p:nvSpPr>
        <p:spPr>
          <a:xfrm>
            <a:off x="8421624" y="5715000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ounded Rectangle 111"/>
          <p:cNvSpPr/>
          <p:nvPr/>
        </p:nvSpPr>
        <p:spPr>
          <a:xfrm>
            <a:off x="8750808" y="5715000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ounded Rectangle 112"/>
          <p:cNvSpPr/>
          <p:nvPr/>
        </p:nvSpPr>
        <p:spPr>
          <a:xfrm>
            <a:off x="9079992" y="5715000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24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ounded Rectangle 113"/>
          <p:cNvSpPr/>
          <p:nvPr/>
        </p:nvSpPr>
        <p:spPr>
          <a:xfrm>
            <a:off x="9409176" y="5715000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ounded Rectangle 114"/>
          <p:cNvSpPr/>
          <p:nvPr/>
        </p:nvSpPr>
        <p:spPr>
          <a:xfrm>
            <a:off x="9738360" y="5715000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24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ounded Rectangle 115"/>
          <p:cNvSpPr/>
          <p:nvPr/>
        </p:nvSpPr>
        <p:spPr>
          <a:xfrm>
            <a:off x="10067544" y="5715000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24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ounded Rectangle 116"/>
          <p:cNvSpPr/>
          <p:nvPr/>
        </p:nvSpPr>
        <p:spPr>
          <a:xfrm>
            <a:off x="10396728" y="5715000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24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ounded Rectangle 117"/>
          <p:cNvSpPr/>
          <p:nvPr/>
        </p:nvSpPr>
        <p:spPr>
          <a:xfrm>
            <a:off x="10725912" y="5715000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6446520" y="612648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B6BECB"/>
                </a:solidFill>
                <a:latin typeface="Calibri"/>
              </a:rPr>
              <a:t>Hover any tile to see the card; click to mark it owned.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6BECB"/>
                </a:solidFill>
                <a:latin typeface="Calibri"/>
              </a:rPr>
              <a:t>The Card Huddle  ·  Feature Tour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0332720" y="644652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B6BECB"/>
                </a:solidFill>
                <a:latin typeface="Calibri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8A1A"/>
                </a:solidFill>
                <a:latin typeface="Calibri"/>
              </a:rPr>
              <a:t>TAB 3 · BROWSE CARDS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4F6FA"/>
                </a:solidFill>
                <a:latin typeface="Calibri"/>
              </a:rPr>
              <a:t>Discover cards other collectors are promoting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548640" cy="45720"/>
          </a:xfrm>
          <a:prstGeom prst="rect">
            <a:avLst/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B6BECB"/>
                </a:solidFill>
                <a:latin typeface="Calibri"/>
              </a:rPr>
              <a:t>Every promoted card across the platform, in one feed. Sort by recency, price, or set.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94560"/>
            <a:ext cx="5303520" cy="914400"/>
          </a:xfrm>
          <a:prstGeom prst="roundRect">
            <a:avLst>
              <a:gd name="adj" fmla="val 5000"/>
            </a:avLst>
          </a:prstGeom>
          <a:solidFill>
            <a:srgbClr val="1A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3317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4F6FA"/>
                </a:solidFill>
                <a:latin typeface="Calibri"/>
              </a:rPr>
              <a:t>Global aggregation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5176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B6BECB"/>
                </a:solidFill>
                <a:latin typeface="Calibri"/>
              </a:rPr>
              <a:t>/api/promoted-cards/all collects every user's promoted slot into one index.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200400"/>
            <a:ext cx="5303520" cy="914400"/>
          </a:xfrm>
          <a:prstGeom prst="roundRect">
            <a:avLst>
              <a:gd name="adj" fmla="val 5000"/>
            </a:avLst>
          </a:prstGeom>
          <a:solidFill>
            <a:srgbClr val="1A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3375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4F6FA"/>
                </a:solidFill>
                <a:latin typeface="Calibri"/>
              </a:rPr>
              <a:t>Free + Pro slots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65760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B6BECB"/>
                </a:solidFill>
                <a:latin typeface="Calibri"/>
              </a:rPr>
              <a:t>Free users get 1 promoted slot, Pro gets 5, with buy-extra-slot via Stripe.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206240"/>
            <a:ext cx="5303520" cy="914400"/>
          </a:xfrm>
          <a:prstGeom prst="roundRect">
            <a:avLst>
              <a:gd name="adj" fmla="val 5000"/>
            </a:avLst>
          </a:prstGeom>
          <a:solidFill>
            <a:srgbClr val="1A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3434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4F6FA"/>
                </a:solidFill>
                <a:latin typeface="Calibri"/>
              </a:rPr>
              <a:t>Search-injected too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66344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B6BECB"/>
                </a:solidFill>
                <a:latin typeface="Calibri"/>
              </a:rPr>
              <a:t>Promoted cards also inject every 10 rows inside normal Search results.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212080"/>
            <a:ext cx="5303520" cy="914400"/>
          </a:xfrm>
          <a:prstGeom prst="roundRect">
            <a:avLst>
              <a:gd name="adj" fmla="val 5000"/>
            </a:avLst>
          </a:prstGeom>
          <a:solidFill>
            <a:srgbClr val="1A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53492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4F6FA"/>
                </a:solidFill>
                <a:latin typeface="Calibri"/>
              </a:rPr>
              <a:t>No bottom-pile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66928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B6BECB"/>
                </a:solidFill>
                <a:latin typeface="Calibri"/>
              </a:rPr>
              <a:t>Promoted injection stops when actual results run out — no dump at the end.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2194560"/>
            <a:ext cx="5760720" cy="4206240"/>
          </a:xfrm>
          <a:prstGeom prst="roundRect">
            <a:avLst>
              <a:gd name="adj" fmla="val 4000"/>
            </a:avLst>
          </a:prstGeom>
          <a:solidFill>
            <a:srgbClr val="1A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228600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4F6FA"/>
                </a:solidFill>
                <a:latin typeface="Calibri"/>
              </a:rPr>
              <a:t>Promoted feed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2743200"/>
            <a:ext cx="5303520" cy="594360"/>
          </a:xfrm>
          <a:prstGeom prst="roundRect">
            <a:avLst>
              <a:gd name="adj" fmla="val 5000"/>
            </a:avLst>
          </a:prstGeom>
          <a:solidFill>
            <a:srgbClr val="24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92240" y="2834640"/>
            <a:ext cx="411480" cy="411480"/>
          </a:xfrm>
          <a:prstGeom prst="roundRect">
            <a:avLst>
              <a:gd name="adj" fmla="val 5000"/>
            </a:avLst>
          </a:prstGeom>
          <a:solidFill>
            <a:srgbClr val="0F1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83464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B6BECB"/>
                </a:solidFill>
                <a:latin typeface="Calibri"/>
              </a:rPr>
              <a:t>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278892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4F6FA"/>
                </a:solidFill>
                <a:latin typeface="Calibri"/>
              </a:rPr>
              <a:t>Joe Burrow Prizm /99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5160" y="303580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6BECB"/>
                </a:solidFill>
                <a:latin typeface="Calibri"/>
              </a:rPr>
              <a:t>PSA 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2907792"/>
            <a:ext cx="868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>
                <a:solidFill>
                  <a:srgbClr val="FF8A1A"/>
                </a:solidFill>
                <a:latin typeface="Calibri"/>
              </a:rPr>
              <a:t>$340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5080" y="3429000"/>
            <a:ext cx="5303520" cy="594360"/>
          </a:xfrm>
          <a:prstGeom prst="roundRect">
            <a:avLst>
              <a:gd name="adj" fmla="val 5000"/>
            </a:avLst>
          </a:prstGeom>
          <a:solidFill>
            <a:srgbClr val="24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92240" y="3520440"/>
            <a:ext cx="411480" cy="411480"/>
          </a:xfrm>
          <a:prstGeom prst="roundRect">
            <a:avLst>
              <a:gd name="adj" fmla="val 5000"/>
            </a:avLst>
          </a:prstGeom>
          <a:solidFill>
            <a:srgbClr val="0F1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352044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B6BECB"/>
                </a:solidFill>
                <a:latin typeface="Calibri"/>
              </a:rPr>
              <a:t>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5160" y="347472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4F6FA"/>
                </a:solidFill>
                <a:latin typeface="Calibri"/>
              </a:rPr>
              <a:t>Bijan Robinson Mosaic Silver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95160" y="372160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6BECB"/>
                </a:solidFill>
                <a:latin typeface="Calibri"/>
              </a:rPr>
              <a:t>Raw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0" y="3593592"/>
            <a:ext cx="868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>
                <a:solidFill>
                  <a:srgbClr val="FF8A1A"/>
                </a:solidFill>
                <a:latin typeface="Calibri"/>
              </a:rPr>
              <a:t>$72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55080" y="4114800"/>
            <a:ext cx="5303520" cy="594360"/>
          </a:xfrm>
          <a:prstGeom prst="roundRect">
            <a:avLst>
              <a:gd name="adj" fmla="val 5000"/>
            </a:avLst>
          </a:prstGeom>
          <a:solidFill>
            <a:srgbClr val="24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492240" y="4206240"/>
            <a:ext cx="411480" cy="411480"/>
          </a:xfrm>
          <a:prstGeom prst="roundRect">
            <a:avLst>
              <a:gd name="adj" fmla="val 5000"/>
            </a:avLst>
          </a:prstGeom>
          <a:solidFill>
            <a:srgbClr val="0F1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420624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B6BECB"/>
                </a:solidFill>
                <a:latin typeface="Calibri"/>
              </a:rPr>
              <a:t>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95160" y="416052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4F6FA"/>
                </a:solidFill>
                <a:latin typeface="Calibri"/>
              </a:rPr>
              <a:t>Patrick Mahomes Select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95160" y="440740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6BECB"/>
                </a:solidFill>
                <a:latin typeface="Calibri"/>
              </a:rPr>
              <a:t>PSA 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89920" y="4279392"/>
            <a:ext cx="868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>
                <a:solidFill>
                  <a:srgbClr val="FF8A1A"/>
                </a:solidFill>
                <a:latin typeface="Calibri"/>
              </a:rPr>
              <a:t>$210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55080" y="4800600"/>
            <a:ext cx="5303520" cy="594360"/>
          </a:xfrm>
          <a:prstGeom prst="roundRect">
            <a:avLst>
              <a:gd name="adj" fmla="val 5000"/>
            </a:avLst>
          </a:prstGeom>
          <a:solidFill>
            <a:srgbClr val="24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492240" y="4892040"/>
            <a:ext cx="411480" cy="411480"/>
          </a:xfrm>
          <a:prstGeom prst="roundRect">
            <a:avLst>
              <a:gd name="adj" fmla="val 5000"/>
            </a:avLst>
          </a:prstGeom>
          <a:solidFill>
            <a:srgbClr val="0F1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92240" y="489204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B6BECB"/>
                </a:solidFill>
                <a:latin typeface="Calibri"/>
              </a:rPr>
              <a:t>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95160" y="484632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4F6FA"/>
                </a:solidFill>
                <a:latin typeface="Calibri"/>
              </a:rPr>
              <a:t>Caleb Williams Optic Holo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95160" y="509320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6BECB"/>
                </a:solidFill>
                <a:latin typeface="Calibri"/>
              </a:rPr>
              <a:t>PSA 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0" y="4965192"/>
            <a:ext cx="868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>
                <a:solidFill>
                  <a:srgbClr val="FF8A1A"/>
                </a:solidFill>
                <a:latin typeface="Calibri"/>
              </a:rPr>
              <a:t>$420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355080" y="5486400"/>
            <a:ext cx="5303520" cy="594360"/>
          </a:xfrm>
          <a:prstGeom prst="roundRect">
            <a:avLst>
              <a:gd name="adj" fmla="val 5000"/>
            </a:avLst>
          </a:prstGeom>
          <a:solidFill>
            <a:srgbClr val="24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492240" y="5577840"/>
            <a:ext cx="411480" cy="411480"/>
          </a:xfrm>
          <a:prstGeom prst="roundRect">
            <a:avLst>
              <a:gd name="adj" fmla="val 5000"/>
            </a:avLst>
          </a:prstGeom>
          <a:solidFill>
            <a:srgbClr val="0F1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92240" y="557784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B6BECB"/>
                </a:solidFill>
                <a:latin typeface="Calibri"/>
              </a:rPr>
              <a:t>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95160" y="553212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4F6FA"/>
                </a:solidFill>
                <a:latin typeface="Calibri"/>
              </a:rPr>
              <a:t>Jayden Daniels Prizm Auto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95160" y="577900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6BECB"/>
                </a:solidFill>
                <a:latin typeface="Calibri"/>
              </a:rPr>
              <a:t>PSA 10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789920" y="5650992"/>
            <a:ext cx="868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>
                <a:solidFill>
                  <a:srgbClr val="FF8A1A"/>
                </a:solidFill>
                <a:latin typeface="Calibri"/>
              </a:rPr>
              <a:t>$890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6BECB"/>
                </a:solidFill>
                <a:latin typeface="Calibri"/>
              </a:rPr>
              <a:t>The Card Huddle  ·  Feature Tour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332720" y="644652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B6BECB"/>
                </a:solidFill>
                <a:latin typeface="Calibri"/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8A1A"/>
                </a:solidFill>
                <a:latin typeface="Calibri"/>
              </a:rPr>
              <a:t>TAB 4 · MY CARDS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4F6FA"/>
                </a:solidFill>
                <a:latin typeface="Calibri"/>
              </a:rPr>
              <a:t>Your personal collection, valued live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548640" cy="45720"/>
          </a:xfrm>
          <a:prstGeom prst="rect">
            <a:avLst/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B6BECB"/>
                </a:solidFill>
                <a:latin typeface="Calibri"/>
              </a:rPr>
              <a:t>Add cards by typing or picking from a checklist. The portfolio re-prices itself against current eBay comps.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240280"/>
            <a:ext cx="2697480" cy="1097280"/>
          </a:xfrm>
          <a:prstGeom prst="roundRect">
            <a:avLst>
              <a:gd name="adj" fmla="val 5000"/>
            </a:avLst>
          </a:prstGeom>
          <a:solidFill>
            <a:srgbClr val="1A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33172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B6BECB"/>
                </a:solidFill>
                <a:latin typeface="Calibri"/>
              </a:rPr>
              <a:t>CARDS OWNED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06040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4F6FA"/>
                </a:solidFill>
                <a:latin typeface="Calibri"/>
              </a:rPr>
              <a:t>187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2240280"/>
            <a:ext cx="2697480" cy="1097280"/>
          </a:xfrm>
          <a:prstGeom prst="roundRect">
            <a:avLst>
              <a:gd name="adj" fmla="val 5000"/>
            </a:avLst>
          </a:prstGeom>
          <a:solidFill>
            <a:srgbClr val="1A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233172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B6BECB"/>
                </a:solidFill>
                <a:latin typeface="Calibri"/>
              </a:rPr>
              <a:t>PORTFOLIO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606040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8A1A"/>
                </a:solidFill>
                <a:latin typeface="Calibri"/>
              </a:rPr>
              <a:t>$24,840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2240280"/>
            <a:ext cx="2697480" cy="1097280"/>
          </a:xfrm>
          <a:prstGeom prst="roundRect">
            <a:avLst>
              <a:gd name="adj" fmla="val 5000"/>
            </a:avLst>
          </a:prstGeom>
          <a:solidFill>
            <a:srgbClr val="1A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233172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B6BECB"/>
                </a:solidFill>
                <a:latin typeface="Calibri"/>
              </a:rPr>
              <a:t>THIS MONTH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606040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4AD082"/>
                </a:solidFill>
                <a:latin typeface="Calibri"/>
              </a:rPr>
              <a:t>+$1,210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2240280"/>
            <a:ext cx="2697480" cy="1097280"/>
          </a:xfrm>
          <a:prstGeom prst="roundRect">
            <a:avLst>
              <a:gd name="adj" fmla="val 5000"/>
            </a:avLst>
          </a:prstGeom>
          <a:solidFill>
            <a:srgbClr val="1A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89720" y="233172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B6BECB"/>
                </a:solidFill>
                <a:latin typeface="Calibri"/>
              </a:rPr>
              <a:t>TOP GRADE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20" y="2606040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4F6FA"/>
                </a:solidFill>
                <a:latin typeface="Calibri"/>
              </a:rPr>
              <a:t>PSA 10 × 22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61188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611880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0F141A"/>
                </a:solidFill>
                <a:latin typeface="Calibri"/>
              </a:rPr>
              <a:t>  Collection  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03120" y="3611880"/>
            <a:ext cx="1719072" cy="292608"/>
          </a:xfrm>
          <a:prstGeom prst="roundRect">
            <a:avLst>
              <a:gd name="adj" fmla="val 50000"/>
            </a:avLst>
          </a:prstGeom>
          <a:solidFill>
            <a:srgbClr val="24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03120" y="3611880"/>
            <a:ext cx="171907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4F6FA"/>
                </a:solidFill>
                <a:latin typeface="Calibri"/>
              </a:rPr>
              <a:t>  Tracked Cards  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13632" y="3611880"/>
            <a:ext cx="1773936" cy="292608"/>
          </a:xfrm>
          <a:prstGeom prst="roundRect">
            <a:avLst>
              <a:gd name="adj" fmla="val 50000"/>
            </a:avLst>
          </a:prstGeom>
          <a:solidFill>
            <a:srgbClr val="24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13632" y="3611880"/>
            <a:ext cx="177393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4F6FA"/>
                </a:solidFill>
                <a:latin typeface="Calibri"/>
              </a:rPr>
              <a:t>  Set Completion  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79008" y="3611880"/>
            <a:ext cx="1444752" cy="292608"/>
          </a:xfrm>
          <a:prstGeom prst="roundRect">
            <a:avLst>
              <a:gd name="adj" fmla="val 50000"/>
            </a:avLst>
          </a:prstGeom>
          <a:solidFill>
            <a:srgbClr val="24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79008" y="3611880"/>
            <a:ext cx="144475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4F6FA"/>
                </a:solidFill>
                <a:latin typeface="Calibri"/>
              </a:rPr>
              <a:t>  Add Card  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0" y="361188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24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0" y="3611880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4F6FA"/>
                </a:solidFill>
                <a:latin typeface="Calibri"/>
              </a:rPr>
              <a:t>  Export CSV  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160520"/>
            <a:ext cx="11384280" cy="2194560"/>
          </a:xfrm>
          <a:prstGeom prst="roundRect">
            <a:avLst>
              <a:gd name="adj" fmla="val 5000"/>
            </a:avLst>
          </a:prstGeom>
          <a:solidFill>
            <a:srgbClr val="1A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4297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4F6FA"/>
                </a:solidFill>
                <a:latin typeface="Calibri"/>
              </a:rPr>
              <a:t>What you can do here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4754880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" y="4709160"/>
            <a:ext cx="3383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4F6FA"/>
                </a:solidFill>
                <a:latin typeface="Calibri"/>
              </a:rPr>
              <a:t>Add cards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4983480"/>
            <a:ext cx="3383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6BECB"/>
                </a:solidFill>
                <a:latin typeface="Calibri"/>
              </a:rPr>
              <a:t>Type or pick from checklist (reuses the cross-site picker modal).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43400" y="4754880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17720" y="4709160"/>
            <a:ext cx="3383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4F6FA"/>
                </a:solidFill>
                <a:latin typeface="Calibri"/>
              </a:rPr>
              <a:t>Live re-pricing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17720" y="4983480"/>
            <a:ext cx="3383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6BECB"/>
                </a:solidFill>
                <a:latin typeface="Calibri"/>
              </a:rPr>
              <a:t>Each card pings recent sold comps; values update as you load.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01000" y="4754880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75320" y="4709160"/>
            <a:ext cx="3383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4F6FA"/>
                </a:solidFill>
                <a:latin typeface="Calibri"/>
              </a:rPr>
              <a:t>Watchlist alerts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5320" y="4983480"/>
            <a:ext cx="3383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6BECB"/>
                </a:solidFill>
                <a:latin typeface="Calibri"/>
              </a:rPr>
              <a:t>Mark a card 'watched' and get pinged if comp price moves ≥ X%.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5800" y="5532120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0120" y="5486400"/>
            <a:ext cx="3383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4F6FA"/>
                </a:solidFill>
                <a:latin typeface="Calibri"/>
              </a:rPr>
              <a:t>CSV export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" y="5760720"/>
            <a:ext cx="3383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6BECB"/>
                </a:solidFill>
                <a:latin typeface="Calibri"/>
              </a:rPr>
              <a:t>Pro users can export the full portfolio for accounting / insurance.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343400" y="5532120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17720" y="5486400"/>
            <a:ext cx="3383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4F6FA"/>
                </a:solidFill>
                <a:latin typeface="Calibri"/>
              </a:rPr>
              <a:t>Set Completion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17720" y="5760720"/>
            <a:ext cx="3383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6BECB"/>
                </a:solidFill>
                <a:latin typeface="Calibri"/>
              </a:rPr>
              <a:t>Per-product completion roll-up across your owned cards.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001000" y="5532120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75320" y="5486400"/>
            <a:ext cx="3383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4F6FA"/>
                </a:solidFill>
                <a:latin typeface="Calibri"/>
              </a:rPr>
              <a:t>Tracked Cards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75320" y="5760720"/>
            <a:ext cx="3383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6BECB"/>
                </a:solidFill>
                <a:latin typeface="Calibri"/>
              </a:rPr>
              <a:t>Daily price snapshots for cards you're waiting to flip or grade.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6BECB"/>
                </a:solidFill>
                <a:latin typeface="Calibri"/>
              </a:rPr>
              <a:t>The Card Huddle  ·  Feature Tour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332720" y="644652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B6BECB"/>
                </a:solidFill>
                <a:latin typeface="Calibri"/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8A1A"/>
                </a:solidFill>
                <a:latin typeface="Calibri"/>
              </a:rPr>
              <a:t>INSIDE MY CARDS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4F6FA"/>
                </a:solidFill>
                <a:latin typeface="Calibri"/>
              </a:rPr>
              <a:t>Tracked Cards &amp; Price Alerts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548640" cy="45720"/>
          </a:xfrm>
          <a:prstGeom prst="rect">
            <a:avLst/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B6BECB"/>
                </a:solidFill>
                <a:latin typeface="Calibri"/>
              </a:rPr>
              <a:t>Pick the cards you actually care about. We watch the market for you.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94560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2140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4F6FA"/>
                </a:solidFill>
                <a:latin typeface="Calibri"/>
              </a:rPr>
              <a:t>Two ways to add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7744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B6BECB"/>
                </a:solidFill>
                <a:latin typeface="Calibri"/>
              </a:rPr>
              <a:t>Type a query, or pick from checklist (Year/Product/Set/Card/Variant).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816352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74320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4F6FA"/>
                </a:solidFill>
                <a:latin typeface="Calibri"/>
              </a:rPr>
              <a:t>Daily price snapshot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99232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B6BECB"/>
                </a:solidFill>
                <a:latin typeface="Calibri"/>
              </a:rPr>
              <a:t>Median sold comp recorded once per day for trend charts.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38144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364992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4F6FA"/>
                </a:solidFill>
                <a:latin typeface="Calibri"/>
              </a:rPr>
              <a:t>Threshold alerts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621024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B6BECB"/>
                </a:solidFill>
                <a:latin typeface="Calibri"/>
              </a:rPr>
              <a:t>Pro users get email when comps move past a chosen %.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059936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986784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4F6FA"/>
                </a:solidFill>
                <a:latin typeface="Calibri"/>
              </a:rPr>
              <a:t>Bulk add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242816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B6BECB"/>
                </a:solidFill>
                <a:latin typeface="Calibri"/>
              </a:rPr>
              <a:t>Add the whole rainbow of a card with one confirm.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681728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608576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4F6FA"/>
                </a:solidFill>
                <a:latin typeface="Calibri"/>
              </a:rPr>
              <a:t>Per-card chart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864608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B6BECB"/>
                </a:solidFill>
                <a:latin typeface="Calibri"/>
              </a:rPr>
              <a:t>30-day sparkline on every tracked row.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0" y="2194560"/>
            <a:ext cx="4572000" cy="4114800"/>
          </a:xfrm>
          <a:prstGeom prst="roundRect">
            <a:avLst>
              <a:gd name="adj" fmla="val 4000"/>
            </a:avLst>
          </a:prstGeom>
          <a:solidFill>
            <a:srgbClr val="1A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43800" y="22860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4F6FA"/>
                </a:solidFill>
                <a:latin typeface="Calibri"/>
              </a:rPr>
              <a:t>Tracked Cards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3800" y="26974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B6BECB"/>
                </a:solidFill>
                <a:latin typeface="Calibri"/>
              </a:rPr>
              <a:t>CARD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26974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B6BECB"/>
                </a:solidFill>
                <a:latin typeface="Calibri"/>
              </a:rPr>
              <a:t>LAST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26974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B6BECB"/>
                </a:solidFill>
                <a:latin typeface="Calibri"/>
              </a:rPr>
              <a:t>Δ 7D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98080" y="3063240"/>
            <a:ext cx="4206240" cy="384048"/>
          </a:xfrm>
          <a:prstGeom prst="roundRect">
            <a:avLst>
              <a:gd name="adj" fmla="val 5000"/>
            </a:avLst>
          </a:prstGeom>
          <a:solidFill>
            <a:srgbClr val="24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89520" y="312724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4F6FA"/>
                </a:solidFill>
                <a:latin typeface="Calibri"/>
              </a:rPr>
              <a:t>J. Daniels Prizm RC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3127248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4F6FA"/>
                </a:solidFill>
                <a:latin typeface="Calibri"/>
              </a:rPr>
              <a:t>$340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98480" y="3127248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4AD082"/>
                </a:solidFill>
                <a:latin typeface="Calibri"/>
              </a:rPr>
              <a:t>+8%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98080" y="3520440"/>
            <a:ext cx="4206240" cy="384048"/>
          </a:xfrm>
          <a:prstGeom prst="roundRect">
            <a:avLst>
              <a:gd name="adj" fmla="val 5000"/>
            </a:avLst>
          </a:prstGeom>
          <a:solidFill>
            <a:srgbClr val="24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89520" y="358444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4F6FA"/>
                </a:solidFill>
                <a:latin typeface="Calibri"/>
              </a:rPr>
              <a:t>C. Williams Optic /99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0" y="3584448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4F6FA"/>
                </a:solidFill>
                <a:latin typeface="Calibri"/>
              </a:rPr>
              <a:t>$1,180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98480" y="3584448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4AD082"/>
                </a:solidFill>
                <a:latin typeface="Calibri"/>
              </a:rPr>
              <a:t>+12%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498080" y="3977640"/>
            <a:ext cx="4206240" cy="384048"/>
          </a:xfrm>
          <a:prstGeom prst="roundRect">
            <a:avLst>
              <a:gd name="adj" fmla="val 5000"/>
            </a:avLst>
          </a:prstGeom>
          <a:solidFill>
            <a:srgbClr val="24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89520" y="404164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4F6FA"/>
                </a:solidFill>
                <a:latin typeface="Calibri"/>
              </a:rPr>
              <a:t>M. Harrison Mosaic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92640" y="4041648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4F6FA"/>
                </a:solidFill>
                <a:latin typeface="Calibri"/>
              </a:rPr>
              <a:t>$92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98480" y="4041648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55A5A"/>
                </a:solidFill>
                <a:latin typeface="Calibri"/>
              </a:rPr>
              <a:t>-3%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498080" y="4434840"/>
            <a:ext cx="4206240" cy="384048"/>
          </a:xfrm>
          <a:prstGeom prst="roundRect">
            <a:avLst>
              <a:gd name="adj" fmla="val 5000"/>
            </a:avLst>
          </a:prstGeom>
          <a:solidFill>
            <a:srgbClr val="24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89520" y="449884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4F6FA"/>
                </a:solidFill>
                <a:latin typeface="Calibri"/>
              </a:rPr>
              <a:t>B. Robinson Select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92640" y="4498848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4F6FA"/>
                </a:solidFill>
                <a:latin typeface="Calibri"/>
              </a:rPr>
              <a:t>$210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698480" y="4498848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4AD082"/>
                </a:solidFill>
                <a:latin typeface="Calibri"/>
              </a:rPr>
              <a:t>+1%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498080" y="4892040"/>
            <a:ext cx="4206240" cy="384048"/>
          </a:xfrm>
          <a:prstGeom prst="roundRect">
            <a:avLst>
              <a:gd name="adj" fmla="val 5000"/>
            </a:avLst>
          </a:prstGeom>
          <a:solidFill>
            <a:srgbClr val="24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589520" y="495604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4F6FA"/>
                </a:solidFill>
                <a:latin typeface="Calibri"/>
              </a:rPr>
              <a:t>J. Burrow Prizm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92640" y="4956048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4F6FA"/>
                </a:solidFill>
                <a:latin typeface="Calibri"/>
              </a:rPr>
              <a:t>$640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698480" y="4956048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55A5A"/>
                </a:solidFill>
                <a:latin typeface="Calibri"/>
              </a:rPr>
              <a:t>-5%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498080" y="5349240"/>
            <a:ext cx="4206240" cy="384048"/>
          </a:xfrm>
          <a:prstGeom prst="roundRect">
            <a:avLst>
              <a:gd name="adj" fmla="val 5000"/>
            </a:avLst>
          </a:prstGeom>
          <a:solidFill>
            <a:srgbClr val="24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589520" y="541324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4F6FA"/>
                </a:solidFill>
                <a:latin typeface="Calibri"/>
              </a:rPr>
              <a:t>P. Mahomes Black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92640" y="5413248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4F6FA"/>
                </a:solidFill>
                <a:latin typeface="Calibri"/>
              </a:rPr>
              <a:t>$2,400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698480" y="5413248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4AD082"/>
                </a:solidFill>
                <a:latin typeface="Calibri"/>
              </a:rPr>
              <a:t>+4%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6BECB"/>
                </a:solidFill>
                <a:latin typeface="Calibri"/>
              </a:rPr>
              <a:t>The Card Huddle  ·  Feature Tour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332720" y="644652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B6BECB"/>
                </a:solidFill>
                <a:latin typeface="Calibri"/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8A1A"/>
                </a:solidFill>
                <a:latin typeface="Calibri"/>
              </a:rPr>
              <a:t>TAB 5 · SELL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4F6FA"/>
                </a:solidFill>
                <a:latin typeface="Calibri"/>
              </a:rPr>
              <a:t>Tools for actually moving cards on eBay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548640" cy="45720"/>
          </a:xfrm>
          <a:prstGeom prst="rect">
            <a:avLst/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B6BECB"/>
                </a:solidFill>
                <a:latin typeface="Calibri"/>
              </a:rPr>
              <a:t>Four sub-tools that take a card from 'I want to list this' to a copy-pasteable eBay listing.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94560"/>
            <a:ext cx="2697480" cy="4023360"/>
          </a:xfrm>
          <a:prstGeom prst="roundRect">
            <a:avLst>
              <a:gd name="adj" fmla="val 5000"/>
            </a:avLst>
          </a:prstGeom>
          <a:solidFill>
            <a:srgbClr val="1A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251460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FFA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0F141A"/>
                </a:solidFill>
                <a:latin typeface="Calibri"/>
              </a:rPr>
              <a:t>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0040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4F6FA"/>
                </a:solidFill>
                <a:latin typeface="Calibri"/>
              </a:rPr>
              <a:t>Title Generator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1188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8A1A"/>
                </a:solidFill>
                <a:latin typeface="Calibri"/>
              </a:rPr>
              <a:t>Optimized 80-char eBay titles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069079"/>
            <a:ext cx="21488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B6BECB"/>
                </a:solidFill>
                <a:latin typeface="Calibri"/>
              </a:rPr>
              <a:t>Pick from checklist or type details.</a:t>
            </a:r>
          </a:p>
          <a:p>
            <a:pPr algn="l"/>
            <a:r>
              <a:rPr sz="1100" b="0">
                <a:solidFill>
                  <a:srgbClr val="B6BECB"/>
                </a:solidFill>
                <a:latin typeface="Calibri"/>
              </a:rPr>
              <a:t>Builds Year / Player / Set / # / Parallel / Grade titles</a:t>
            </a:r>
          </a:p>
          <a:p>
            <a:pPr algn="l"/>
            <a:r>
              <a:rPr sz="1100" b="0">
                <a:solidFill>
                  <a:srgbClr val="B6BECB"/>
                </a:solidFill>
                <a:latin typeface="Calibri"/>
              </a:rPr>
              <a:t>trimmed exactly to eBay's 80-char limit.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2194560"/>
            <a:ext cx="2697480" cy="4023360"/>
          </a:xfrm>
          <a:prstGeom prst="roundRect">
            <a:avLst>
              <a:gd name="adj" fmla="val 5000"/>
            </a:avLst>
          </a:prstGeom>
          <a:solidFill>
            <a:srgbClr val="1A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66160" y="251460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FFA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25146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0F141A"/>
                </a:solidFill>
                <a:latin typeface="Calibri"/>
              </a:rPr>
              <a:t>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320040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4F6FA"/>
                </a:solidFill>
                <a:latin typeface="Calibri"/>
              </a:rPr>
              <a:t>Listing Helper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361188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8A1A"/>
                </a:solidFill>
                <a:latin typeface="Calibri"/>
              </a:rPr>
              <a:t>Auto-fill listing fields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4069079"/>
            <a:ext cx="21488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B6BECB"/>
                </a:solidFill>
                <a:latin typeface="Calibri"/>
              </a:rPr>
              <a:t>Pulls comp price, condition language, and</a:t>
            </a:r>
          </a:p>
          <a:p>
            <a:pPr algn="l"/>
            <a:r>
              <a:rPr sz="1100" b="0">
                <a:solidFill>
                  <a:srgbClr val="B6BECB"/>
                </a:solidFill>
                <a:latin typeface="Calibri"/>
              </a:rPr>
              <a:t>high-CTR keywords for a card so the listing</a:t>
            </a:r>
          </a:p>
          <a:p>
            <a:pPr algn="l"/>
            <a:r>
              <a:rPr sz="1100" b="0">
                <a:solidFill>
                  <a:srgbClr val="B6BECB"/>
                </a:solidFill>
                <a:latin typeface="Calibri"/>
              </a:rPr>
              <a:t>form fills itself.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2194560"/>
            <a:ext cx="2697480" cy="4023360"/>
          </a:xfrm>
          <a:prstGeom prst="roundRect">
            <a:avLst>
              <a:gd name="adj" fmla="val 5000"/>
            </a:avLst>
          </a:prstGeom>
          <a:solidFill>
            <a:srgbClr val="1A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46720" y="2377440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0" y="2377440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0F141A"/>
                </a:solidFill>
                <a:latin typeface="Calibri"/>
              </a:rPr>
              <a:t>  PRO  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251460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FFA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25146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0F141A"/>
                </a:solidFill>
                <a:latin typeface="Calibri"/>
              </a:rPr>
              <a:t>$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20040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4F6FA"/>
                </a:solidFill>
                <a:latin typeface="Calibri"/>
              </a:rPr>
              <a:t>Auto-Pricer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61188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8A1A"/>
                </a:solidFill>
                <a:latin typeface="Calibri"/>
              </a:rPr>
              <a:t>One card → suggested price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069079"/>
            <a:ext cx="21488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B6BECB"/>
                </a:solidFill>
                <a:latin typeface="Calibri"/>
              </a:rPr>
              <a:t>Median + recent-trend pricing with</a:t>
            </a:r>
          </a:p>
          <a:p>
            <a:pPr algn="l"/>
            <a:r>
              <a:rPr sz="1100" b="0">
                <a:solidFill>
                  <a:srgbClr val="B6BECB"/>
                </a:solidFill>
                <a:latin typeface="Calibri"/>
              </a:rPr>
              <a:t>optional 'fast sell' or 'top dollar' bias.</a:t>
            </a:r>
          </a:p>
          <a:p>
            <a:pPr algn="l"/>
            <a:r>
              <a:rPr sz="1100" b="0">
                <a:solidFill>
                  <a:srgbClr val="B6BECB"/>
                </a:solidFill>
                <a:latin typeface="Calibri"/>
              </a:rPr>
              <a:t>Free: 1/day · Pro: unlimited.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61120" y="2194560"/>
            <a:ext cx="2697480" cy="4023360"/>
          </a:xfrm>
          <a:prstGeom prst="roundRect">
            <a:avLst>
              <a:gd name="adj" fmla="val 5000"/>
            </a:avLst>
          </a:prstGeom>
          <a:solidFill>
            <a:srgbClr val="1A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881360" y="2377440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881360" y="2377440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0F141A"/>
                </a:solidFill>
                <a:latin typeface="Calibri"/>
              </a:rPr>
              <a:t>  PRO  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235440" y="251460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FFA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35440" y="25146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0F141A"/>
                </a:solidFill>
                <a:latin typeface="Calibri"/>
              </a:rPr>
              <a:t>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5440" y="320040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4F6FA"/>
                </a:solidFill>
                <a:latin typeface="Calibri"/>
              </a:rPr>
              <a:t>Bulk Pricer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5440" y="361188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8A1A"/>
                </a:solidFill>
                <a:latin typeface="Calibri"/>
              </a:rPr>
              <a:t>CSV → priced CSV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5440" y="4069079"/>
            <a:ext cx="21488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B6BECB"/>
                </a:solidFill>
                <a:latin typeface="Calibri"/>
              </a:rPr>
              <a:t>Upload a spreadsheet of cards,</a:t>
            </a:r>
          </a:p>
          <a:p>
            <a:pPr algn="l"/>
            <a:r>
              <a:rPr sz="1100" b="0">
                <a:solidFill>
                  <a:srgbClr val="B6BECB"/>
                </a:solidFill>
                <a:latin typeface="Calibri"/>
              </a:rPr>
              <a:t>get prices back for every row.</a:t>
            </a:r>
          </a:p>
          <a:p>
            <a:pPr algn="l"/>
            <a:r>
              <a:rPr sz="1100" b="0">
                <a:solidFill>
                  <a:srgbClr val="B6BECB"/>
                </a:solidFill>
                <a:latin typeface="Calibri"/>
              </a:rPr>
              <a:t>Pro-only.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6BECB"/>
                </a:solidFill>
                <a:latin typeface="Calibri"/>
              </a:rPr>
              <a:t>The Card Huddle  ·  Feature Tour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32720" y="644652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B6BECB"/>
                </a:solidFill>
                <a:latin typeface="Calibri"/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8A1A"/>
                </a:solidFill>
                <a:latin typeface="Calibri"/>
              </a:rPr>
              <a:t>BONUS TOOL · GRADING ADVISOR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4F6FA"/>
                </a:solidFill>
                <a:latin typeface="Calibri"/>
              </a:rPr>
              <a:t>Should you grade it? We do the math.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548640" cy="45720"/>
          </a:xfrm>
          <a:prstGeom prst="rect">
            <a:avLst/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B6BECB"/>
                </a:solidFill>
                <a:latin typeface="Calibri"/>
              </a:rPr>
              <a:t>Enter a card. We compare Raw vs PSA 9 vs PSA 10 sold comps and call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94560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2140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4F6FA"/>
                </a:solidFill>
                <a:latin typeface="Calibri"/>
              </a:rPr>
              <a:t>Strict variant filter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7744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B6BECB"/>
                </a:solidFill>
                <a:latin typeface="Calibri"/>
              </a:rPr>
              <a:t>PSA 10 comps don't accidentally include non-PSA-10 sales.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816352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74320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4F6FA"/>
                </a:solidFill>
                <a:latin typeface="Calibri"/>
              </a:rPr>
              <a:t>Net EV calculation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99232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B6BECB"/>
                </a:solidFill>
                <a:latin typeface="Calibri"/>
              </a:rPr>
              <a:t>PSA tier price minus PSA fee minus shipping = expected value.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38144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364992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4F6FA"/>
                </a:solidFill>
                <a:latin typeface="Calibri"/>
              </a:rPr>
              <a:t>Grade likelihood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621024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B6BECB"/>
                </a:solidFill>
                <a:latin typeface="Calibri"/>
              </a:rPr>
              <a:t>Honest 'how often does a raw of this card actually come back 10?' estimate.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059936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986784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4F6FA"/>
                </a:solidFill>
                <a:latin typeface="Calibri"/>
              </a:rPr>
              <a:t>Recommendation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242816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B6BECB"/>
                </a:solidFill>
                <a:latin typeface="Calibri"/>
              </a:rPr>
              <a:t>Worth grading / Borderline / Don't grade — with the dollar math.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681728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608576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4F6FA"/>
                </a:solidFill>
                <a:latin typeface="Calibri"/>
              </a:rPr>
              <a:t>Free tier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864608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B6BECB"/>
                </a:solidFill>
                <a:latin typeface="Calibri"/>
              </a:rPr>
              <a:t>3 advisor runs/day on Free, unlimited on Pro.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0" y="2194560"/>
            <a:ext cx="4572000" cy="4114800"/>
          </a:xfrm>
          <a:prstGeom prst="roundRect">
            <a:avLst>
              <a:gd name="adj" fmla="val 5000"/>
            </a:avLst>
          </a:prstGeom>
          <a:solidFill>
            <a:srgbClr val="1A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20" y="23317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4F6FA"/>
                </a:solidFill>
                <a:latin typeface="Calibri"/>
              </a:rPr>
              <a:t>Caleb Williams Prizm RC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26517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B6BECB"/>
                </a:solidFill>
                <a:latin typeface="Calibri"/>
              </a:rPr>
              <a:t>Should you grade this?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89520" y="3200400"/>
            <a:ext cx="4023360" cy="640080"/>
          </a:xfrm>
          <a:prstGeom prst="roundRect">
            <a:avLst>
              <a:gd name="adj" fmla="val 5000"/>
            </a:avLst>
          </a:prstGeom>
          <a:solidFill>
            <a:srgbClr val="24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336499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4F6FA"/>
                </a:solidFill>
                <a:latin typeface="Calibri"/>
              </a:rPr>
              <a:t>Raw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0" y="3364992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>
                <a:solidFill>
                  <a:srgbClr val="F4F6FA"/>
                </a:solidFill>
                <a:latin typeface="Calibri"/>
              </a:rPr>
              <a:t>$180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89520" y="3977640"/>
            <a:ext cx="4023360" cy="640080"/>
          </a:xfrm>
          <a:prstGeom prst="roundRect">
            <a:avLst>
              <a:gd name="adj" fmla="val 5000"/>
            </a:avLst>
          </a:prstGeom>
          <a:solidFill>
            <a:srgbClr val="24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0" y="414223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4F6FA"/>
                </a:solidFill>
                <a:latin typeface="Calibri"/>
              </a:rPr>
              <a:t>PSA 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98480" y="4142232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>
                <a:solidFill>
                  <a:srgbClr val="F4F6FA"/>
                </a:solidFill>
                <a:latin typeface="Calibri"/>
              </a:rPr>
              <a:t>$520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89520" y="4754880"/>
            <a:ext cx="4023360" cy="640080"/>
          </a:xfrm>
          <a:prstGeom prst="roundRect">
            <a:avLst>
              <a:gd name="adj" fmla="val 5000"/>
            </a:avLst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0" y="491947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41A"/>
                </a:solidFill>
                <a:latin typeface="Calibri"/>
              </a:rPr>
              <a:t>PSA 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4919472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>
                <a:solidFill>
                  <a:srgbClr val="0F141A"/>
                </a:solidFill>
                <a:latin typeface="Calibri"/>
              </a:rPr>
              <a:t>$1,240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89520" y="5532120"/>
            <a:ext cx="4023360" cy="640080"/>
          </a:xfrm>
          <a:prstGeom prst="roundRect">
            <a:avLst>
              <a:gd name="adj" fmla="val 50000"/>
            </a:avLst>
          </a:prstGeom>
          <a:solidFill>
            <a:srgbClr val="4AD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89520" y="5532120"/>
            <a:ext cx="40233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0F141A"/>
                </a:solidFill>
                <a:latin typeface="Calibri"/>
              </a:rPr>
              <a:t>✓  Worth grading — net EV +$845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6BECB"/>
                </a:solidFill>
                <a:latin typeface="Calibri"/>
              </a:rPr>
              <a:t>The Card Huddle  ·  Feature Tour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32720" y="644652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B6BECB"/>
                </a:solidFill>
                <a:latin typeface="Calibri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8A1A"/>
                </a:solidFill>
                <a:latin typeface="Calibri"/>
              </a:rPr>
              <a:t>CROSS-CUTTING 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4F6FA"/>
                </a:solidFill>
                <a:latin typeface="Calibri"/>
              </a:rPr>
              <a:t>The Checklist Picker — one modal, used everywhere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548640" cy="45720"/>
          </a:xfrm>
          <a:prstGeom prst="rect">
            <a:avLst/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B6BECB"/>
                </a:solidFill>
                <a:latin typeface="Calibri"/>
              </a:rPr>
              <a:t>Wherever you need to identify a specific card, the same searchable picker shows up.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8A1A"/>
                </a:solidFill>
                <a:latin typeface="Calibri"/>
              </a:rPr>
              <a:t>Used in 6 places: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651760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587752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4F6FA"/>
                </a:solidFill>
                <a:latin typeface="Calibri"/>
              </a:rPr>
              <a:t>Tracked Cards — add card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108960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044952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4F6FA"/>
                </a:solidFill>
                <a:latin typeface="Calibri"/>
              </a:rPr>
              <a:t>Auto-Pricer input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566160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502152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4F6FA"/>
                </a:solidFill>
                <a:latin typeface="Calibri"/>
              </a:rPr>
              <a:t>Bulk Pricer rows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023360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959352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4F6FA"/>
                </a:solidFill>
                <a:latin typeface="Calibri"/>
              </a:rPr>
              <a:t>Grading Advisor input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480560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416552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4F6FA"/>
                </a:solidFill>
                <a:latin typeface="Calibri"/>
              </a:rPr>
              <a:t>eBay Seller — Listing Helper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937760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873752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4F6FA"/>
                </a:solidFill>
                <a:latin typeface="Calibri"/>
              </a:rPr>
              <a:t>Title Generator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57784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6BECB"/>
                </a:solidFill>
                <a:latin typeface="Calibri"/>
              </a:rPr>
              <a:t>One implementation. Consistent UX. Zero duplicated picker code.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79" y="2194560"/>
            <a:ext cx="4389120" cy="4114800"/>
          </a:xfrm>
          <a:prstGeom prst="roundRect">
            <a:avLst>
              <a:gd name="adj" fmla="val 5000"/>
            </a:avLst>
          </a:prstGeom>
          <a:solidFill>
            <a:srgbClr val="1A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399" y="233172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4F6FA"/>
                </a:solidFill>
                <a:latin typeface="Calibri"/>
              </a:rPr>
              <a:t>Pick a card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399" y="27889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B6BECB"/>
                </a:solidFill>
                <a:latin typeface="Calibri"/>
              </a:rPr>
              <a:t>Year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399" y="3044952"/>
            <a:ext cx="3840480" cy="384048"/>
          </a:xfrm>
          <a:prstGeom prst="roundRect">
            <a:avLst>
              <a:gd name="adj" fmla="val 30000"/>
            </a:avLst>
          </a:prstGeom>
          <a:solidFill>
            <a:srgbClr val="24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79" y="3108960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4F6FA"/>
                </a:solidFill>
                <a:latin typeface="Calibri"/>
              </a:rPr>
              <a:t>2024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399" y="34290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B6BECB"/>
                </a:solidFill>
                <a:latin typeface="Calibri"/>
              </a:rPr>
              <a:t>Product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399" y="3685032"/>
            <a:ext cx="3840480" cy="384048"/>
          </a:xfrm>
          <a:prstGeom prst="roundRect">
            <a:avLst>
              <a:gd name="adj" fmla="val 30000"/>
            </a:avLst>
          </a:prstGeom>
          <a:solidFill>
            <a:srgbClr val="24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79" y="3749040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4F6FA"/>
                </a:solidFill>
                <a:latin typeface="Calibri"/>
              </a:rPr>
              <a:t>Panini Prizm Football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399" y="40690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B6BECB"/>
                </a:solidFill>
                <a:latin typeface="Calibri"/>
              </a:rPr>
              <a:t>Set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399" y="4325112"/>
            <a:ext cx="3840480" cy="384048"/>
          </a:xfrm>
          <a:prstGeom prst="roundRect">
            <a:avLst>
              <a:gd name="adj" fmla="val 30000"/>
            </a:avLst>
          </a:prstGeom>
          <a:solidFill>
            <a:srgbClr val="24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55279" y="4389120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4F6FA"/>
                </a:solidFill>
                <a:latin typeface="Calibri"/>
              </a:rPr>
              <a:t>Rookies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399" y="470916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B6BECB"/>
                </a:solidFill>
                <a:latin typeface="Calibri"/>
              </a:rPr>
              <a:t>Card #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399" y="4965192"/>
            <a:ext cx="3840480" cy="384048"/>
          </a:xfrm>
          <a:prstGeom prst="roundRect">
            <a:avLst>
              <a:gd name="adj" fmla="val 30000"/>
            </a:avLst>
          </a:prstGeom>
          <a:solidFill>
            <a:srgbClr val="24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55279" y="5029200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4F6FA"/>
                </a:solidFill>
                <a:latin typeface="Calibri"/>
              </a:rPr>
              <a:t>#312 Caleb Williams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399" y="53492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B6BECB"/>
                </a:solidFill>
                <a:latin typeface="Calibri"/>
              </a:rPr>
              <a:t>Variant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399" y="5605272"/>
            <a:ext cx="3840480" cy="384048"/>
          </a:xfrm>
          <a:prstGeom prst="roundRect">
            <a:avLst>
              <a:gd name="adj" fmla="val 30000"/>
            </a:avLst>
          </a:prstGeom>
          <a:solidFill>
            <a:srgbClr val="24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55279" y="5669280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4F6FA"/>
                </a:solidFill>
                <a:latin typeface="Calibri"/>
              </a:rPr>
              <a:t>Silver Prizm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6BECB"/>
                </a:solidFill>
                <a:latin typeface="Calibri"/>
              </a:rPr>
              <a:t>The Card Huddle  ·  Feature Tour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32720" y="644652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B6BECB"/>
                </a:solidFill>
                <a:latin typeface="Calibri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8A1A"/>
                </a:solidFill>
                <a:latin typeface="Calibri"/>
              </a:rPr>
              <a:t>PRICING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4F6FA"/>
                </a:solidFill>
                <a:latin typeface="Calibri"/>
              </a:rPr>
              <a:t>Free does the job. Pro does it in bulk.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548640" cy="45720"/>
          </a:xfrm>
          <a:prstGeom prst="rect">
            <a:avLst/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B6BECB"/>
                </a:solidFill>
                <a:latin typeface="Calibri"/>
              </a:rPr>
              <a:t>Soft limits, not hard walls. Free users feel the value before they upgrade.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94560"/>
            <a:ext cx="5577840" cy="4206240"/>
          </a:xfrm>
          <a:prstGeom prst="roundRect">
            <a:avLst>
              <a:gd name="adj" fmla="val 5000"/>
            </a:avLst>
          </a:prstGeom>
          <a:solidFill>
            <a:srgbClr val="1A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5577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4F6FA"/>
                </a:solidFill>
                <a:latin typeface="Calibri"/>
              </a:rPr>
              <a:t>Free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8036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B6BECB"/>
                </a:solidFill>
                <a:latin typeface="Calibri"/>
              </a:rPr>
              <a:t>$0 forever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290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AD082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429000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4F6FA"/>
                </a:solidFill>
                <a:latin typeface="Calibri"/>
              </a:rPr>
              <a:t>Unlimited 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75818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AD082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758184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4F6FA"/>
                </a:solidFill>
                <a:latin typeface="Calibri"/>
              </a:rPr>
              <a:t>All 71 checklists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8736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AD082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087368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4F6FA"/>
                </a:solidFill>
                <a:latin typeface="Calibri"/>
              </a:rPr>
              <a:t>Set completion tracking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41655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AD082"/>
                </a:solidFill>
                <a:latin typeface="Calibr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416552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4F6FA"/>
                </a:solidFill>
                <a:latin typeface="Calibri"/>
              </a:rPr>
              <a:t>Auto-Pricer · 1 card / day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74573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AD082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745736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4F6FA"/>
                </a:solidFill>
                <a:latin typeface="Calibri"/>
              </a:rPr>
              <a:t>Grading Advisor · 3 / day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07492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AD082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5074920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4F6FA"/>
                </a:solidFill>
                <a:latin typeface="Calibri"/>
              </a:rPr>
              <a:t>Watchlist · up to 5 cards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40410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AD082"/>
                </a:solidFill>
                <a:latin typeface="Calibr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5404104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4F6FA"/>
                </a:solidFill>
                <a:latin typeface="Calibri"/>
              </a:rPr>
              <a:t>Collection · up to 50 cards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73328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AD082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5733288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4F6FA"/>
                </a:solidFill>
                <a:latin typeface="Calibri"/>
              </a:rPr>
              <a:t>Promoted slots · 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2194560"/>
            <a:ext cx="5577840" cy="4206240"/>
          </a:xfrm>
          <a:prstGeom prst="roundRect">
            <a:avLst>
              <a:gd name="adj" fmla="val 5000"/>
            </a:avLst>
          </a:prstGeom>
          <a:solidFill>
            <a:srgbClr val="242D3A"/>
          </a:solidFill>
          <a:ln w="9525">
            <a:solidFill>
              <a:srgbClr val="FF8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378440" y="237744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78440" y="2377440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0F141A"/>
                </a:solidFill>
                <a:latin typeface="Calibri"/>
              </a:rPr>
              <a:t>  RECOMMENDED 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2377440"/>
            <a:ext cx="5577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8A1A"/>
                </a:solidFill>
                <a:latin typeface="Calibri"/>
              </a:rPr>
              <a:t>Pro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288036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B6BECB"/>
                </a:solidFill>
                <a:latin typeface="Calibri"/>
              </a:rPr>
              <a:t>Monthly or annual via Stripe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342900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B6BECB"/>
                </a:solidFill>
                <a:latin typeface="Calibri"/>
              </a:rPr>
              <a:t>Everything in Free, plus: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75818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8A1A"/>
                </a:solidFill>
                <a:latin typeface="Calibr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3758184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4F6FA"/>
                </a:solidFill>
                <a:latin typeface="Calibri"/>
              </a:rPr>
              <a:t>Auto-Pricer · unlimited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408736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8A1A"/>
                </a:solidFill>
                <a:latin typeface="Calibri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4087368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4F6FA"/>
                </a:solidFill>
                <a:latin typeface="Calibri"/>
              </a:rPr>
              <a:t>Bulk Pricer · CSV upload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29400" y="441655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8A1A"/>
                </a:solidFill>
                <a:latin typeface="Calibri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4416552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4F6FA"/>
                </a:solidFill>
                <a:latin typeface="Calibri"/>
              </a:rPr>
              <a:t>Grading Advisor · unlimited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74573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8A1A"/>
                </a:solidFill>
                <a:latin typeface="Calibri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0" y="4745736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4F6FA"/>
                </a:solidFill>
                <a:latin typeface="Calibri"/>
              </a:rPr>
              <a:t>Watchlist &amp; Collection · unlimited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9400" y="507492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8A1A"/>
                </a:solidFill>
                <a:latin typeface="Calibri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49440" y="5074920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4F6FA"/>
                </a:solidFill>
                <a:latin typeface="Calibri"/>
              </a:rPr>
              <a:t>Tracked Cards · email alerts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29400" y="540410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8A1A"/>
                </a:solidFill>
                <a:latin typeface="Calibri"/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49440" y="5404104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4F6FA"/>
                </a:solidFill>
                <a:latin typeface="Calibri"/>
              </a:rPr>
              <a:t>Promoted slots · 5 (buy more)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573328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8A1A"/>
                </a:solidFill>
                <a:latin typeface="Calibr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49440" y="5733288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4F6FA"/>
                </a:solidFill>
                <a:latin typeface="Calibri"/>
              </a:rPr>
              <a:t>CSV export of collection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6BECB"/>
                </a:solidFill>
                <a:latin typeface="Calibri"/>
              </a:rPr>
              <a:t>The Card Huddle  ·  Feature Tour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32720" y="644652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B6BECB"/>
                </a:solidFill>
                <a:latin typeface="Calibri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8A1A"/>
                </a:solidFill>
                <a:latin typeface="Calibri"/>
              </a:rPr>
              <a:t>ACCOUNTS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4F6FA"/>
                </a:solidFill>
                <a:latin typeface="Calibri"/>
              </a:rPr>
              <a:t>Sign in once. Same collection on every device.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548640" cy="45720"/>
          </a:xfrm>
          <a:prstGeom prst="rect">
            <a:avLst/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B6BECB"/>
                </a:solidFill>
                <a:latin typeface="Calibri"/>
              </a:rPr>
              <a:t>All user data lives in Cloudflare KV at the edge — no separate database server, no cold-start delay.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94560"/>
            <a:ext cx="3657600" cy="1463040"/>
          </a:xfrm>
          <a:prstGeom prst="roundRect">
            <a:avLst>
              <a:gd name="adj" fmla="val 5000"/>
            </a:avLst>
          </a:prstGeom>
          <a:solidFill>
            <a:srgbClr val="1A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237744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5A6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2395728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4F6FA"/>
                </a:solidFill>
                <a:latin typeface="Calibri"/>
              </a:rPr>
              <a:t>Email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743200"/>
            <a:ext cx="2560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B6BECB"/>
                </a:solidFill>
                <a:latin typeface="Calibri"/>
              </a:rPr>
              <a:t>Username + password, PBKDF2-hashed.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39" y="2194560"/>
            <a:ext cx="3657600" cy="1463040"/>
          </a:xfrm>
          <a:prstGeom prst="roundRect">
            <a:avLst>
              <a:gd name="adj" fmla="val 5000"/>
            </a:avLst>
          </a:prstGeom>
          <a:solidFill>
            <a:srgbClr val="1A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59" y="237744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E5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79" y="2395728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4F6FA"/>
                </a:solidFill>
                <a:latin typeface="Calibri"/>
              </a:rPr>
              <a:t>Google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79" y="2743200"/>
            <a:ext cx="2560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B6BECB"/>
                </a:solidFill>
                <a:latin typeface="Calibri"/>
              </a:rPr>
              <a:t>One-tap sign-in via Google Identity Services.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8" y="2194560"/>
            <a:ext cx="3657600" cy="1463040"/>
          </a:xfrm>
          <a:prstGeom prst="roundRect">
            <a:avLst>
              <a:gd name="adj" fmla="val 5000"/>
            </a:avLst>
          </a:prstGeom>
          <a:solidFill>
            <a:srgbClr val="1A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598" y="237744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18" y="2395728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4F6FA"/>
                </a:solidFill>
                <a:latin typeface="Calibri"/>
              </a:rPr>
              <a:t>Apple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18" y="2743200"/>
            <a:ext cx="2560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B6BECB"/>
                </a:solidFill>
                <a:latin typeface="Calibri"/>
              </a:rPr>
              <a:t>Sign In with Apple, JWKS-verified.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931920"/>
            <a:ext cx="11384280" cy="2377440"/>
          </a:xfrm>
          <a:prstGeom prst="roundRect">
            <a:avLst>
              <a:gd name="adj" fmla="val 5000"/>
            </a:avLst>
          </a:prstGeom>
          <a:solidFill>
            <a:srgbClr val="1A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114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4F6FA"/>
                </a:solidFill>
                <a:latin typeface="Calibri"/>
              </a:rPr>
              <a:t>What syncs across devices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617720"/>
            <a:ext cx="2697480" cy="640080"/>
          </a:xfrm>
          <a:prstGeom prst="roundRect">
            <a:avLst>
              <a:gd name="adj" fmla="val 5000"/>
            </a:avLst>
          </a:prstGeom>
          <a:solidFill>
            <a:srgbClr val="24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68680" y="480060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34440" y="4782312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4F6FA"/>
                </a:solidFill>
                <a:latin typeface="Calibri"/>
              </a:rPr>
              <a:t>Collection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74720" y="4617720"/>
            <a:ext cx="2697480" cy="640080"/>
          </a:xfrm>
          <a:prstGeom prst="roundRect">
            <a:avLst>
              <a:gd name="adj" fmla="val 5000"/>
            </a:avLst>
          </a:prstGeom>
          <a:solidFill>
            <a:srgbClr val="24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657600" y="480060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23360" y="4782312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4F6FA"/>
                </a:solidFill>
                <a:latin typeface="Calibri"/>
              </a:rPr>
              <a:t>Watchlist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4617720"/>
            <a:ext cx="2697480" cy="640080"/>
          </a:xfrm>
          <a:prstGeom prst="roundRect">
            <a:avLst>
              <a:gd name="adj" fmla="val 5000"/>
            </a:avLst>
          </a:prstGeom>
          <a:solidFill>
            <a:srgbClr val="24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46520" y="480060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12280" y="4782312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4F6FA"/>
                </a:solidFill>
                <a:latin typeface="Calibri"/>
              </a:rPr>
              <a:t>Set Completion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52560" y="4617720"/>
            <a:ext cx="2697480" cy="640080"/>
          </a:xfrm>
          <a:prstGeom prst="roundRect">
            <a:avLst>
              <a:gd name="adj" fmla="val 5000"/>
            </a:avLst>
          </a:prstGeom>
          <a:solidFill>
            <a:srgbClr val="24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235440" y="480060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0" y="4782312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4F6FA"/>
                </a:solidFill>
                <a:latin typeface="Calibri"/>
              </a:rPr>
              <a:t>Tracked Cards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5394960"/>
            <a:ext cx="2697480" cy="640080"/>
          </a:xfrm>
          <a:prstGeom prst="roundRect">
            <a:avLst>
              <a:gd name="adj" fmla="val 5000"/>
            </a:avLst>
          </a:prstGeom>
          <a:solidFill>
            <a:srgbClr val="24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68680" y="557784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34440" y="5559552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4F6FA"/>
                </a:solidFill>
                <a:latin typeface="Calibri"/>
              </a:rPr>
              <a:t>Seller Drafts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74720" y="5394960"/>
            <a:ext cx="2697480" cy="640080"/>
          </a:xfrm>
          <a:prstGeom prst="roundRect">
            <a:avLst>
              <a:gd name="adj" fmla="val 5000"/>
            </a:avLst>
          </a:prstGeom>
          <a:solidFill>
            <a:srgbClr val="24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657600" y="557784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023360" y="5559552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4F6FA"/>
                </a:solidFill>
                <a:latin typeface="Calibri"/>
              </a:rPr>
              <a:t>Promoted Cards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63640" y="5394960"/>
            <a:ext cx="2697480" cy="640080"/>
          </a:xfrm>
          <a:prstGeom prst="roundRect">
            <a:avLst>
              <a:gd name="adj" fmla="val 5000"/>
            </a:avLst>
          </a:prstGeom>
          <a:solidFill>
            <a:srgbClr val="24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446520" y="557784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12280" y="5559552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4F6FA"/>
                </a:solidFill>
                <a:latin typeface="Calibri"/>
              </a:rPr>
              <a:t>Pro Subscription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52560" y="5394960"/>
            <a:ext cx="2697480" cy="640080"/>
          </a:xfrm>
          <a:prstGeom prst="roundRect">
            <a:avLst>
              <a:gd name="adj" fmla="val 5000"/>
            </a:avLst>
          </a:prstGeom>
          <a:solidFill>
            <a:srgbClr val="24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235440" y="557784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01200" y="5559552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4F6FA"/>
                </a:solidFill>
                <a:latin typeface="Calibri"/>
              </a:rPr>
              <a:t>Preferences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6BECB"/>
                </a:solidFill>
                <a:latin typeface="Calibri"/>
              </a:rPr>
              <a:t>The Card Huddle  ·  Feature Tour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32720" y="644652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B6BECB"/>
                </a:solidFill>
                <a:latin typeface="Calibri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8A1A"/>
                </a:solidFill>
                <a:latin typeface="Calibri"/>
              </a:rPr>
              <a:t>UNDER THE HOOD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4F6FA"/>
                </a:solidFill>
                <a:latin typeface="Calibri"/>
              </a:rPr>
              <a:t>Built for speed and edge delivery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548640" cy="45720"/>
          </a:xfrm>
          <a:prstGeom prst="rect">
            <a:avLst/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783080"/>
            <a:ext cx="3703320" cy="2240280"/>
          </a:xfrm>
          <a:prstGeom prst="roundRect">
            <a:avLst>
              <a:gd name="adj" fmla="val 5000"/>
            </a:avLst>
          </a:prstGeom>
          <a:solidFill>
            <a:srgbClr val="1A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205740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9144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0F141A"/>
                </a:solidFill>
                <a:latin typeface="Calibri"/>
              </a:rPr>
              <a:t>  Edge 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4F6FA"/>
                </a:solidFill>
                <a:latin typeface="Calibri"/>
              </a:rPr>
              <a:t>Cloudflare Workers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17520"/>
            <a:ext cx="31546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B6BECB"/>
                </a:solidFill>
                <a:latin typeface="Calibri"/>
              </a:rPr>
              <a:t>Express app wrapped in a fetch-shim worker. Runs at the edge in every region.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783080"/>
            <a:ext cx="3703320" cy="2240280"/>
          </a:xfrm>
          <a:prstGeom prst="roundRect">
            <a:avLst>
              <a:gd name="adj" fmla="val 5000"/>
            </a:avLst>
          </a:prstGeom>
          <a:solidFill>
            <a:srgbClr val="1A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26280" y="205740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2057400"/>
            <a:ext cx="9144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0F141A"/>
                </a:solidFill>
                <a:latin typeface="Calibri"/>
              </a:rPr>
              <a:t>  Data 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56032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4F6FA"/>
                </a:solidFill>
                <a:latin typeface="Calibri"/>
              </a:rPr>
              <a:t>Cloudflare KV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3017520"/>
            <a:ext cx="31546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B6BECB"/>
                </a:solidFill>
                <a:latin typeface="Calibri"/>
              </a:rPr>
              <a:t>Persistent storage with in-memory preload. No cold-start DB delay.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783080"/>
            <a:ext cx="3703320" cy="2240280"/>
          </a:xfrm>
          <a:prstGeom prst="roundRect">
            <a:avLst>
              <a:gd name="adj" fmla="val 5000"/>
            </a:avLst>
          </a:prstGeom>
          <a:solidFill>
            <a:srgbClr val="1A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21040" y="2057400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2057400"/>
            <a:ext cx="10515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0F141A"/>
                </a:solidFill>
                <a:latin typeface="Calibri"/>
              </a:rPr>
              <a:t>  Pricing 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56032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4F6FA"/>
                </a:solidFill>
                <a:latin typeface="Calibri"/>
              </a:rPr>
              <a:t>eBay Browse + Sold 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017520"/>
            <a:ext cx="31546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B6BECB"/>
                </a:solidFill>
                <a:latin typeface="Calibri"/>
              </a:rPr>
              <a:t>Live for-sale and recently-sold comps, merged and de-duped server-side.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160520"/>
            <a:ext cx="3703320" cy="2240280"/>
          </a:xfrm>
          <a:prstGeom prst="roundRect">
            <a:avLst>
              <a:gd name="adj" fmla="val 5000"/>
            </a:avLst>
          </a:prstGeom>
          <a:solidFill>
            <a:srgbClr val="1A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1520" y="4434840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434840"/>
            <a:ext cx="10515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0F141A"/>
                </a:solidFill>
                <a:latin typeface="Calibri"/>
              </a:rPr>
              <a:t>  Billing 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93776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4F6FA"/>
                </a:solidFill>
                <a:latin typeface="Calibri"/>
              </a:rPr>
              <a:t>Stripe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394960"/>
            <a:ext cx="31546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B6BECB"/>
                </a:solidFill>
                <a:latin typeface="Calibri"/>
              </a:rPr>
              <a:t>Monthly + annual Pro subscriptions, one-time slot purchases, webhook-driven state.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51960" y="4160520"/>
            <a:ext cx="3703320" cy="2240280"/>
          </a:xfrm>
          <a:prstGeom prst="roundRect">
            <a:avLst>
              <a:gd name="adj" fmla="val 5000"/>
            </a:avLst>
          </a:prstGeom>
          <a:solidFill>
            <a:srgbClr val="1A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526280" y="443484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26280" y="4434840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0F141A"/>
                </a:solidFill>
                <a:latin typeface="Calibri"/>
              </a:rPr>
              <a:t>  Frontend 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80" y="493776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4F6FA"/>
                </a:solidFill>
                <a:latin typeface="Calibri"/>
              </a:rPr>
              <a:t>Lazy-loaded checklists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5394960"/>
            <a:ext cx="31546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B6BECB"/>
                </a:solidFill>
                <a:latin typeface="Calibri"/>
              </a:rPr>
              <a:t>71 product JSONs split out of one source so the page boots fast.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6720" y="4160520"/>
            <a:ext cx="3703320" cy="2240280"/>
          </a:xfrm>
          <a:prstGeom prst="roundRect">
            <a:avLst>
              <a:gd name="adj" fmla="val 5000"/>
            </a:avLst>
          </a:prstGeom>
          <a:solidFill>
            <a:srgbClr val="1A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321040" y="443484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1040" y="4434840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0F141A"/>
                </a:solidFill>
                <a:latin typeface="Calibri"/>
              </a:rPr>
              <a:t>  Frontend 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493776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4F6FA"/>
                </a:solidFill>
                <a:latin typeface="Calibri"/>
              </a:rPr>
              <a:t>Single-page app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5394960"/>
            <a:ext cx="31546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B6BECB"/>
                </a:solidFill>
                <a:latin typeface="Calibri"/>
              </a:rPr>
              <a:t>13K-line vanilla JS frontend with no framework dependency, fast first paint.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6BECB"/>
                </a:solidFill>
                <a:latin typeface="Calibri"/>
              </a:rPr>
              <a:t>The Card Huddle  ·  Feature Tour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32720" y="644652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B6BECB"/>
                </a:solidFill>
                <a:latin typeface="Calibri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8A1A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600" b="1">
                <a:solidFill>
                  <a:srgbClr val="F4F6FA"/>
                </a:solidFill>
                <a:latin typeface="Calibri"/>
              </a:rPr>
              <a:t>Try it now.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657600"/>
            <a:ext cx="10058400" cy="868680"/>
          </a:xfrm>
          <a:prstGeom prst="roundRect">
            <a:avLst>
              <a:gd name="adj" fmla="val 5000"/>
            </a:avLst>
          </a:prstGeom>
          <a:solidFill>
            <a:srgbClr val="1A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100584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1">
                <a:solidFill>
                  <a:srgbClr val="FF8A1A"/>
                </a:solidFill>
                <a:latin typeface="Calibri"/>
              </a:rPr>
              <a:t>thecardhuddle.com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937760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487375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F4F6FA"/>
                </a:solidFill>
                <a:latin typeface="Calibri"/>
              </a:rPr>
              <a:t>Free account · no card required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394960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533095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F4F6FA"/>
                </a:solidFill>
                <a:latin typeface="Calibri"/>
              </a:rPr>
              <a:t>71 checklists · 9,400+ cards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5852160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FF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578815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F4F6FA"/>
                </a:solidFill>
                <a:latin typeface="Calibri"/>
              </a:rPr>
              <a:t>Sync across every device you sign in 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