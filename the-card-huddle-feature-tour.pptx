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28800"/>
            <a:ext cx="5258433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FEATURE TOUR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8229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DF0F7"/>
                </a:solidFill>
                <a:latin typeface="Calibri"/>
              </a:rPr>
              <a:t>The Card Huddle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94A3B8"/>
                </a:solidFill>
                <a:latin typeface="Calibri"/>
              </a:rPr>
              <a:t>Football trading-card pricing, checklists,</a:t>
            </a:r>
          </a:p>
          <a:p>
            <a:pPr algn="l"/>
            <a:r>
              <a:rPr sz="2200" b="0">
                <a:solidFill>
                  <a:srgbClr val="94A3B8"/>
                </a:solidFill>
                <a:latin typeface="Calibri"/>
              </a:rPr>
              <a:t>and portfolio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4805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C0E14"/>
                </a:solidFill>
                <a:latin typeface="Calibri"/>
              </a:rPr>
              <a:t>  eBay-powered comps 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4480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448056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DF0F7"/>
                </a:solidFill>
                <a:latin typeface="Calibri"/>
              </a:rPr>
              <a:t>  71+ checklists 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480560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480560"/>
            <a:ext cx="1508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DF0F7"/>
                </a:solidFill>
                <a:latin typeface="Calibri"/>
              </a:rPr>
              <a:t>  Cross-device sync 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4480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448056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EDF0F7"/>
                </a:solidFill>
                <a:latin typeface="Calibri"/>
              </a:rPr>
              <a:t>  Stripe-powered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thecardhuddle.com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WHAT'S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Five tabs. Every feature on one screen.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The site is organized by user intent, not by paywall. PRO badges live on individual subtabs.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31720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45059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505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C0E14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DF0F7"/>
                </a:solidFill>
                <a:latin typeface="Calibri"/>
              </a:rPr>
              <a:t>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15768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Sold + For Sale comps, grade panel, price chart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08960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22783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2783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C0E14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182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DF0F7"/>
                </a:solidFill>
                <a:latin typeface="Calibri"/>
              </a:rPr>
              <a:t>Checklists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93008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71 products, set completion, rainbow mode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86200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0050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C0E14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95935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DF0F7"/>
                </a:solidFill>
                <a:latin typeface="Calibri"/>
              </a:rPr>
              <a:t>Browse Cards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70248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Promoted listings aggregated across users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78231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7823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C0E14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7365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DF0F7"/>
                </a:solidFill>
                <a:latin typeface="Calibri"/>
              </a:rPr>
              <a:t>My Cards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047488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Collection, watchlist, tracked cards &amp; alerts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40679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" y="5559551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55955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C0E14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513831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EDF0F7"/>
                </a:solidFill>
                <a:latin typeface="Calibri"/>
              </a:rPr>
              <a:t>Sell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824727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Auto-Pricer, Bulk Pricer, Title Generator, Listing Helper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TAB 1 ·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Find any card's real market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Type a player or card number. Live sold + for-sale comps from eBay.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Sold prices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Real, recent sold listings — not asking prices.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6207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Grade panel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PSA 10 / 9 / 8 / Raw broken out with median + range.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838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Variants picker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Drill into parallels, /99, /25, autos, patches.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056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14216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Auction vs Buy-It-Now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88536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Every listing labeled, color-coded.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27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36008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Load More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1032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Fetch 40 more comps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4924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Strict-match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Falls back to 'similar listings' so results never empty.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600200"/>
            <a:ext cx="5349240" cy="47091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4330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04622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SEARCH RESULTS SCREENSHOT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3205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TAB 2 · CHECKLISTS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Browse every card in every set we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71 hand-curated checklists across Panini &amp; Topps football. Lazy-loaded.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Cascading picker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Year → Product → Set → Card → Variant.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6207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Searchable combobox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Every dropdown has a search field.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838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Inline eBay listings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Live comps render inside each card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056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14216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Set Completion subtab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88536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Track owned cards as a tile-grid heatmap.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27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36008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Rainbow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1032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All parallels for a card side-by-side.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1600200"/>
            <a:ext cx="5349240" cy="47091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54330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4622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CHECKLISTS VIEW SCREENSHOT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3205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INSIDE CHECKLISTS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Rainbow Mode &amp; Set Completion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Two collector views inside the Checklists tab.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RAINBOW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0F7"/>
                </a:solidFill>
                <a:latin typeface="Calibri"/>
              </a:rPr>
              <a:t>All parallels for one card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71800"/>
            <a:ext cx="5577840" cy="33375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2291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202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RAINBOW VIEW SCREENSHOT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0634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SET COMPLETION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0F7"/>
                </a:solidFill>
                <a:latin typeface="Calibri"/>
              </a:rPr>
              <a:t>How far along are you?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971800"/>
            <a:ext cx="5577840" cy="33375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42291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73202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SET COMPLETION TILE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00634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TAB 3 · BROWSE 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Discover cards other collectors are promoting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Every promoted card across the platform, in one feed.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Global 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Every user's promoted slot collected in one index.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6207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Free + Pro slots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Free: 1 slot · Pro: 5 slots · buy-extra via Stripe.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838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Search-injected too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Promoted cards inject every 10 rows inside Search.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056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14216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No bottom-pile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88536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Injection stops when actual results run out.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1600200"/>
            <a:ext cx="5349240" cy="47091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54330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4622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BROWSE CARDS FEED SCREENSHOT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205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TAB 4 · MY 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Your personal collection, valued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Add cards by typing or picking from a checklist. Portfolio re-prices against eBay comps.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Add cards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Type or pick from checklist.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Live re-pricing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Each card pings recent sold comps.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290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Watchlist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Mark cards 'watched' to follow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3192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Set Completion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062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Per-product roll-up of owned cards.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1772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2628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Tracked Cards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0060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Daily snapshots for flip / grade candidates.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2120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206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CSV 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39496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Full portfolio export (Pro).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600200"/>
            <a:ext cx="5349240" cy="47091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4330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04622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MY CARDS / COLLECTION SCREENSHOT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3205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INSIDE MY 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Tracked Cards &amp; Price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Pick the cards you actually care about. We watch the market for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Two ways to add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Type a query or pick from checklist.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6207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Daily price snapshot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Median sold comp recorded once per 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838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Threshold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Email when comps move past a chosen %.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056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14216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Bulk add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88536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Add a card's whole rainbow at once.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27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36008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Per-card chart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1032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30-day sparkline on every tracked row.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27080" y="91440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27080" y="914400"/>
            <a:ext cx="594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Calibri"/>
              </a:rPr>
              <a:t>PRO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1600200"/>
            <a:ext cx="5349240" cy="47091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354330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04622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TRACKED CARDS TABLE SCREENSHOT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3205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TAB 5 · 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Tools for moving cards on eBay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Four sub-tools from 'I want to list this' to a copy-pasteable eBay listing.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2697480" cy="411480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C0E14"/>
                </a:solidFill>
                <a:latin typeface="Calibri"/>
              </a:rPr>
              <a:t>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Title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Optimized 80-char eBay titles.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2148840" cy="201168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0916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120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SCREENSHOT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194560"/>
            <a:ext cx="2697480" cy="411480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66160" y="251460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C0E14"/>
                </a:solidFill>
                <a:latin typeface="Calibr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200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Listing Helper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611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Auto-fill listing fields from a card.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4114800"/>
            <a:ext cx="2148840" cy="201168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470916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52120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SCREENSHOT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4864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194560"/>
            <a:ext cx="2697480" cy="411480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0" y="242316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2423160"/>
            <a:ext cx="594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Calibri"/>
              </a:rPr>
              <a:t>PRO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51460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C0E14"/>
                </a:solidFill>
                <a:latin typeface="Calibri"/>
              </a:rPr>
              <a:t>$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200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Auto-Pricer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611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One card → suggested price.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114800"/>
            <a:ext cx="2148840" cy="201168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70916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2120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SCREENSHOT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4864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0" y="2194560"/>
            <a:ext cx="2697480" cy="411480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881360" y="242316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81360" y="2423160"/>
            <a:ext cx="594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Calibri"/>
              </a:rPr>
              <a:t>PRO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251460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5440" y="25146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C0E14"/>
                </a:solidFill>
                <a:latin typeface="Calibri"/>
              </a:rPr>
              <a:t>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3200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Bulk Pricer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361188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CSV in, priced CSV out.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35440" y="4114800"/>
            <a:ext cx="2148840" cy="201168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4709160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52120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SCREENSHOT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54864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BONUS TOOL · GRADING ADVISOR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Should you grade it? We do the math.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Enter a card. We compare Raw vs PSA 9 vs PSA 10 and call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Strict variant filter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PSA 10 comps don't include non-PSA-10 sales.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6207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Net EV calculation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Tier price minus PSA fee minus shipping.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838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Grade likelihood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66744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How often raw of this card comes back 10.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056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14216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Recommendation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88536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Worth grading / Borderline / Don't grade.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27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36008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Free +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1032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3 runs/day Free, unlimited on Pro.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1600200"/>
            <a:ext cx="5349240" cy="47091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54330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4622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GRADING ADVISOR SCREENSHOT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3205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CROSS-CUTTING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Checklist Picker — one modal, used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Wherever you identify a specific card, the same picker shows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Used in 6 places: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517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Tracked Cards — add 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Auto-Pricer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661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Bulk Pricer rows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Grading Advisor 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80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89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eBay Seller — Listing Helper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377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463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Title Generator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321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One implementation. Consistent UX. Zero duplicated picker code.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600200"/>
            <a:ext cx="5349240" cy="4709160"/>
          </a:xfrm>
          <a:prstGeom prst="roundRect">
            <a:avLst>
              <a:gd name="adj" fmla="val 3000"/>
            </a:avLst>
          </a:prstGeom>
          <a:solidFill>
            <a:srgbClr val="1A2133"/>
          </a:solidFill>
          <a:ln w="15875">
            <a:solidFill>
              <a:srgbClr val="5ECE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54330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0">
                <a:solidFill>
                  <a:srgbClr val="5ECE99"/>
                </a:solidFill>
                <a:latin typeface="Calibri"/>
              </a:rPr>
              <a:t>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4622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5ECE99"/>
                </a:solidFill>
                <a:latin typeface="Calibri"/>
              </a:rPr>
              <a:t>PICKER MODAL SCREENSHOT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2054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drop a screenshot here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Free does the job. Pro does it in bulk.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Soft limits, not hard walls. Free users feel the value before they upgrade.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DF0F7"/>
                </a:solidFill>
                <a:latin typeface="Calibri"/>
              </a:rPr>
              <a:t>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$0 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290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Unlimited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8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All 71 checklists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873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08736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Set completion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16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1655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Auto-Pricer · 1 card / 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457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74573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Grading Advisor · 3 /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0749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Watchlist · up to 5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04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40410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Collection · up to 50 cards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33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33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Promoted slots ·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219456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78440" y="23774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237744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A1A1A"/>
                </a:solidFill>
                <a:latin typeface="Calibri"/>
              </a:rPr>
              <a:t>  RECOMMENDED 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37744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59E0B"/>
                </a:solidFill>
                <a:latin typeface="Calibri"/>
              </a:rPr>
              <a:t>Pro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8803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Monthly or annual via Stripe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429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Calibri"/>
              </a:rPr>
              <a:t>Everything in Free, plus: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758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Auto-Pricer · unlimited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0873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408736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Bulk Pricer · CSV upload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416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41655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Grading Advisor · unlimited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7457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74573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Watchlist &amp; Collection · unlimited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5074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50749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Tracked Cards · email alerts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5404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40410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Promoted slots · 5 (buy more)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5733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5733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DF0F7"/>
                </a:solidFill>
                <a:latin typeface="Calibri"/>
              </a:rPr>
              <a:t>CSV export of collection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Sign in once. Same collection on every device.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All user data lives in Cloudflare KV at the 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39572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0F7"/>
                </a:solidFill>
                <a:latin typeface="Calibri"/>
              </a:rPr>
              <a:t>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Username + password, PBKDF2-hashed.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39" y="21945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59" y="23774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9" y="239572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0F7"/>
                </a:solidFill>
                <a:latin typeface="Calibri"/>
              </a:rPr>
              <a:t>Google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9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One-tap sign-in via Google Identity Services.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8" y="21945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598" y="23774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18" y="239572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DF0F7"/>
                </a:solidFill>
                <a:latin typeface="Calibri"/>
              </a:rPr>
              <a:t>Apple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8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Sign In with Apple, JWKS-verified.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31920"/>
            <a:ext cx="11384280" cy="237744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DF0F7"/>
                </a:solidFill>
                <a:latin typeface="Calibri"/>
              </a:rPr>
              <a:t>What syncs across devices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61772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480060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478231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Collection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61772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57600" y="480060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0" y="478231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Watchlist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61772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46520" y="480060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78231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Set Completion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461772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35440" y="480060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478231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Tracked Cards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39496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557784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4440" y="555955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Seller Drafts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539496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57600" y="557784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23360" y="555955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Promoted Cards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539496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46520" y="557784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12280" y="555955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Pro Subscription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60" y="5394960"/>
            <a:ext cx="2697480" cy="640080"/>
          </a:xfrm>
          <a:prstGeom prst="roundRect">
            <a:avLst>
              <a:gd name="adj" fmla="val 5000"/>
            </a:avLst>
          </a:prstGeom>
          <a:solidFill>
            <a:srgbClr val="232D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235440" y="557784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0" y="555955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DF0F7"/>
                </a:solidFill>
                <a:latin typeface="Calibri"/>
              </a:rPr>
              <a:t>Preferences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ECE99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EDF0F7"/>
                </a:solidFill>
                <a:latin typeface="Calibri"/>
              </a:rPr>
              <a:t>Built for speed and edge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" cy="4572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3703320" cy="224028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C0E14"/>
                </a:solidFill>
                <a:latin typeface="Calibri"/>
              </a:rPr>
              <a:t>  Edge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Cloudflare Workers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Express app wrapped in a fetch-shim worker. Runs at the 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783080"/>
            <a:ext cx="3703320" cy="224028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20574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05740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C0E14"/>
                </a:solidFill>
                <a:latin typeface="Calibri"/>
              </a:rPr>
              <a:t>  Data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5603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Cloudflare KV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017520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Persistent storage with in-memory preload. No cold-start DB delay.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83080"/>
            <a:ext cx="3703320" cy="224028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20574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05740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C0E14"/>
                </a:solidFill>
                <a:latin typeface="Calibri"/>
              </a:rPr>
              <a:t>  Pricing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5603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eBay Browse + Sold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017520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Live for-sale and recently-sold comps, merged server-side.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3703320" cy="224028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4434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34840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C0E14"/>
                </a:solidFill>
                <a:latin typeface="Calibri"/>
              </a:rPr>
              <a:t>  Billing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93776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Stripe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94960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Monthly + annual Pro subscriptions, webhook-driven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4160520"/>
            <a:ext cx="3703320" cy="224028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26280" y="44348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443484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C0E14"/>
                </a:solidFill>
                <a:latin typeface="Calibri"/>
              </a:rPr>
              <a:t>  Frontend 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93776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Lazy-loaded checklists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394960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71 product JSONs so the page boots fast.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160520"/>
            <a:ext cx="3703320" cy="224028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443484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43484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C0E14"/>
                </a:solidFill>
                <a:latin typeface="Calibri"/>
              </a:rPr>
              <a:t>  Frontend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93776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DF0F7"/>
                </a:solidFill>
                <a:latin typeface="Calibri"/>
              </a:rPr>
              <a:t>Single-page app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5394960"/>
            <a:ext cx="3154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Vanilla-JS frontend, no framework, fast first paint.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The Card Huddle  ·  Feature Tour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5ECE99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EDF0F7"/>
                </a:solidFill>
                <a:latin typeface="Calibri"/>
              </a:rPr>
              <a:t>Try it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10058400" cy="868680"/>
          </a:xfrm>
          <a:prstGeom prst="roundRect">
            <a:avLst>
              <a:gd name="adj" fmla="val 5000"/>
            </a:avLst>
          </a:prstGeom>
          <a:solidFill>
            <a:srgbClr val="1A21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5ECE99"/>
                </a:solidFill>
                <a:latin typeface="Calibri"/>
              </a:rPr>
              <a:t>thecardhuddle.com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9834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892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DF0F7"/>
                </a:solidFill>
                <a:latin typeface="Calibri"/>
              </a:rPr>
              <a:t>Free account · no card required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4406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DF0F7"/>
                </a:solidFill>
                <a:latin typeface="Calibri"/>
              </a:rPr>
              <a:t>71 checklists · 9,400+ cards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8978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5EC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DF0F7"/>
                </a:solidFill>
                <a:latin typeface="Calibri"/>
              </a:rPr>
              <a:t>Sync across every device you sign in 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